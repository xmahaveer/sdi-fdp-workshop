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DAY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AI-Augmented Curriculum
Design for SDI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"From workshop experiments to YOUR curriculum — with AI as co-designer"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1017545" y="5178065"/>
            <a:ext cx="342351" cy="342351"/>
          </a:xfrm>
          <a:prstGeom prst="wav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965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1977665" y="5178065"/>
            <a:ext cx="342351" cy="342351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7977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2937785" y="5178065"/>
            <a:ext cx="342351" cy="342351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3989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n 14"/>
          <p:cNvSpPr/>
          <p:nvPr/>
        </p:nvSpPr>
        <p:spPr>
          <a:xfrm>
            <a:off x="3897905" y="5178065"/>
            <a:ext cx="342351" cy="342351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Mahaveer. Rajendra. Savanur  |  Head of Engineering &amp; AI Systems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5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27101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23444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8:00 – 8:30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Welcome &amp; Day 5 Overview</a:t>
            </a:r>
          </a:p>
        </p:txBody>
      </p:sp>
      <p:sp>
        <p:nvSpPr>
          <p:cNvPr id="9" name="Oval 8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911096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8:30 – 10:30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911096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Moku Custom Instrument (MCC) Session</a:t>
            </a:r>
            <a:r>
              <a:rPr sz="1200" b="0">
                <a:solidFill>
                  <a:srgbClr val="5A6B7B"/>
                </a:solidFill>
                <a:latin typeface="Calibri"/>
              </a:rPr>
              <a:t>   FPGA inside the instrument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" y="262432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587752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10:45 – 12:30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58775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AI-Assisted Curriculum Mapping</a:t>
            </a:r>
            <a:r>
              <a:rPr sz="1200" b="0">
                <a:solidFill>
                  <a:srgbClr val="5A6B7B"/>
                </a:solidFill>
                <a:latin typeface="Calibri"/>
              </a:rPr>
              <a:t>   context primer + mapping prompt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30098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26440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1:30 – 4:30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26440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AI-Assisted Experiment Design</a:t>
            </a:r>
            <a:r>
              <a:rPr sz="1200" b="0">
                <a:solidFill>
                  <a:srgbClr val="5A6B7B"/>
                </a:solidFill>
                <a:latin typeface="Calibri"/>
              </a:rPr>
              <a:t>   GPT ideation + Claude design + verification</a:t>
            </a:r>
          </a:p>
        </p:txBody>
      </p:sp>
      <p:sp>
        <p:nvSpPr>
          <p:cNvPr id="18" name="Oval 17"/>
          <p:cNvSpPr/>
          <p:nvPr/>
        </p:nvSpPr>
        <p:spPr>
          <a:xfrm>
            <a:off x="585216" y="3977640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941064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4:30 – 5:00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941064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Sharing, Wrap-Up &amp; Certificates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Why AI + SDI = Industry 4.0 Curriculum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Two tools, used the way industry actually uses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You Bring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Subject expertise and syllabus 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4 days of hands-on SDI automation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Judgment — you accept or reject AI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AI Brings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Speed: a curriculum map in minutes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Breadth: ideas you would not think of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Drafting: complete experiment documents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You Leave With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 curriculum map for YOUR subject,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ready for your HoD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One complete new SDI experiment,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AI-designed, faculty-verified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Ground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AI is the assistant, you are the expert.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Every output gets verified against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what you learned in Days 1–4.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Moku Custom Instrument (MCC) — What &amp;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Your own Verilog, running inside the instrument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Custom Verilog on the Moku:Go's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Zynq-7020 FPGA, deployed alongside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the standard instruments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Synthesis runs on the LI cloud 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no local Vivado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"Instrument shell + custom DSP core"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Your logic lives inside a fixed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CustomWrapper module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Python ⇄ FPGA via Control/Status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registers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Why Teach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Bridges FPGA lab -&gt; industry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equipment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Shows how SDI products are built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Fits Digital Design / VLSI / DSP /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Communication Systems labs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MCC — The 5 Key Differences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Interactive: trainer shows lab Verilog left, MCC equivalent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63040"/>
          <a:ext cx="11185855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8"/>
              </a:tblGrid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Your FPGA lab</a:t>
                      </a:r>
                    </a:p>
                  </a:txBody>
                  <a:tcPr>
                    <a:solidFill>
                      <a:srgbClr val="0057B8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MCC reality</a:t>
                      </a:r>
                    </a:p>
                  </a:txBody>
                  <a:tcPr>
                    <a:solidFill>
                      <a:srgbClr val="0057B8"/>
                    </a:solidFill>
                  </a:tcPr>
                </a:tc>
              </a:tr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Name your own top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Always CustomWrapper — hardcoded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Choose your clock frequency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Clk = 125 MHz system clock, fixed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Define your own I/O 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Fixed port list — logic goes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Raw integer signal values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Q1.15 signed 16-bit: 32767 = +1.0 V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29768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JTAG / hardware programmer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400" b="0">
                          <a:solidFill>
                            <a:srgbClr val="1A202C"/>
                          </a:solidFill>
                          <a:latin typeface="Calibri"/>
                        </a:rPr>
                        <a:t>Python via Control0–19 and Status0–3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29200"/>
            <a:ext cx="11155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Also: OutputD is not physical on Moku:Go; OutputC disconnects in 3-slot MIM; LUTs use initial-begin with $sin/$cos, not .mif 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MCC Hands-On — Threshold Detector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60 minutes  •  scripts/day5/mcc_threshold_detector_*  •  intentionally simple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Complete the
skeleton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3 guided TODOs: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compare, drive,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count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Cloud
compile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upload .v file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 cloud builds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the bitstream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Deploy +
run host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MiM: custom inst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+ WG test signal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Observe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Status0 ≈ 100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crossings/sec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for 100 Hz sine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478627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566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Instrument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7705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059936"/>
            <a:ext cx="5332323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InputA vs threshold (Control0)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OutputA: +1 V when above, else 0 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Status0: crossings per second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147" y="3566160"/>
            <a:ext cx="5478627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147" y="3566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Experiments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147" y="387705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3299" y="4059936"/>
            <a:ext cx="5332323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Raise threshold above peak -&gt; 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Double the frequency -&gt; double 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Why count in FPGA, not Python?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Python ⇄ FPGA — Control &amp; Status Registers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# Python side (mcc_threshold_detector_host.py)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ci = m.set_instrument(1, MokuCustomInstrument,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bitstream='threshold.tar')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wg = m.set_instrument(2, WaveformGenerator)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# threshold = 0.5 x full scale (Q1.15)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ci.set_control_register(0, 16384)    # -&gt; Control0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crossings = ci.get_status_register(0)  # &lt;- Status0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print(f'Crossings/sec: {crossings}')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Q1.15 scale: 32767 = +1.0 V  •  16384 = +0.5 V  •  0x2000 = +0.25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 the Verilog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wire signed [15:0] threshold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  = Control0[15:0];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Status0 &lt;= crossing_count;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8036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88036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20 in, 4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19125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37413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Control0–19: Python -&gt; FPGA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Status0–3:  FPGA -&gt; Python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That is the ENTIRE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43484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43484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74573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92861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No JTAG, no programmer —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reconfiguration is software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The Day 5 AI Workflow — 4 Prompts, 2 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All four prompts ship in scripts/day5/ — free tiers are enough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87853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1. SDI Context
Primer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paste FIRST into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BOTH Claude &amp; GPT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new chats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2677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554480"/>
            <a:ext cx="2487853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2. Curriculum
Mapping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map Days 1–4 onto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YOUR syllabus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either AI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2677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554480"/>
            <a:ext cx="2487853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3. GPT
Ideation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3 experiment ideas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for your subject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you pick ONE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2677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554480"/>
            <a:ext cx="2487853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4. Claude
Design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full experiment doc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with code scaffold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you verify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66160"/>
            <a:ext cx="111556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57B8"/>
                </a:solidFill>
                <a:latin typeface="Calibri"/>
              </a:rPr>
              <a:t>Why the split? </a:t>
            </a:r>
            <a:r>
              <a:rPr sz="1500" b="0">
                <a:solidFill>
                  <a:srgbClr val="1A202C"/>
                </a:solidFill>
                <a:latin typeface="Calibri"/>
              </a:rPr>
              <a:t>GPT tends to ideate more freely; Claude produces more structured, verifiable output. You are the judge of both.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25196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Step 1 is mandatory — without the primer, the AI invents API methods and hardware specs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7316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67258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Every code scaffold gets cross-checked against the patterns you used in Days 1–4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9379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5093208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Trainer reviews each design before it is finalized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Morning — AI-Assisted Curriculum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10:45 – 12:30  •  output: a map ready for your 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Prime (30 min)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paste the SDI primer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into Claude AND GPT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Pick a subject
(15 min)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one course YOU teach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list its units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Map (60 min)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run mapping prompt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iterate on weak fits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Refine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1–2 page document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Bloom's level per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experiment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478627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566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Good Mapping Looks Like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77056"/>
            <a:ext cx="5478627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059936"/>
            <a:ext cx="5332323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Each experiment tied to a real unit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Honest "weak fit" where true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Lab-slot weeks that match your term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147" y="3566160"/>
            <a:ext cx="5478627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147" y="3566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Watch Out For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147" y="3877056"/>
            <a:ext cx="5478627" cy="10972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3299" y="4059936"/>
            <a:ext cx="5332323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AI forcing every experiment to fit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Invented syllabus topics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Bloom's levels with no justification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Afternoon — AI-Assisted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1:30 – 4:30  •  output: one complete experiment, faculty-owned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GPT — ideation: 3 candidate ideas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Claude — structured design +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YOU — domain expert and judge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Ideate (30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GPT ideation prompt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3 ideas, genuinely different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pick the one YOUR students need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Design (90 min)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Claude design prompt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Aim/Apparatus/Theory/Procedure,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code scaffold, viva questions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iterate until it fits your syllabus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Verify (45 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Cross-check every API call vs Days 1–4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Flag anything unfamiliar: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"# TODO: verify against moku docs"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Trainer review, then finalize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Your Day 5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Both ready for submission to your institution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78627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— Curriculum 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956816"/>
            <a:ext cx="5332323" cy="2542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Days 1–4 experiments mapped to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YOUR subject's syllabus units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Bloom's alignment + lab slots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AI-generated, faculty-verified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463040"/>
            <a:ext cx="5478627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4630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 — New SDI Experiment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7739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956816"/>
            <a:ext cx="5332323" cy="2542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Complete lab document for 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NEW experiment in your subject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Verified Python code scaffold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AI-designed, faculty-owned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Sharing at 4:30 — </a:t>
            </a:r>
            <a:r>
              <a:rPr sz="1600" b="0">
                <a:solidFill>
                  <a:srgbClr val="1A202C"/>
                </a:solidFill>
                <a:latin typeface="Calibri"/>
              </a:rPr>
              <a:t>2–3 volunteers present their designed experiment to the group. Then: certificates.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5-Day FDP Complete — Congratulations!</a:t>
            </a:r>
          </a:p>
        </p:txBody>
      </p:sp>
      <p:sp>
        <p:nvSpPr>
          <p:cNvPr id="5" name="Oval 4"/>
          <p:cNvSpPr/>
          <p:nvPr/>
        </p:nvSpPr>
        <p:spPr>
          <a:xfrm>
            <a:off x="850392" y="161848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91056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Day 1–2: Python control of 4 instruments + Multi-Instrument Mode</a:t>
            </a:r>
          </a:p>
        </p:txBody>
      </p:sp>
      <p:sp>
        <p:nvSpPr>
          <p:cNvPr id="7" name="Oval 6"/>
          <p:cNvSpPr/>
          <p:nvPr/>
        </p:nvSpPr>
        <p:spPr>
          <a:xfrm>
            <a:off x="850392" y="211226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84832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Day 3: streaming, FFT/SNR/THD, professional test systems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606040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78608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Day 4: industry patterns + a complete automated capstone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309981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72384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Day 5: MCC on the FPGA + AI-augmented curriculum artifacts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59359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66160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You leave with working code, a curriculum map, and a new experiment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105156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The best automation is the one you actually use. Start small, prove the value, and build from there. — Team Spruha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