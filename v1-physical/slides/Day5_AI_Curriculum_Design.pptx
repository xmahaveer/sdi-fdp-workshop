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68680"/>
            <a:ext cx="1828800" cy="475488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DAY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877824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AI-Augmented Curriculum
Design for SDI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85953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1">
                <a:solidFill>
                  <a:srgbClr val="028090"/>
                </a:solidFill>
                <a:latin typeface="Calibri"/>
              </a:rPr>
              <a:t>"From workshop experiments to YOUR curriculum — with AI as co-designer"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8229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7" name="Oval 6"/>
          <p:cNvSpPr/>
          <p:nvPr/>
        </p:nvSpPr>
        <p:spPr>
          <a:xfrm>
            <a:off x="9701784" y="1014984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ave 7"/>
          <p:cNvSpPr/>
          <p:nvPr/>
        </p:nvSpPr>
        <p:spPr>
          <a:xfrm>
            <a:off x="9880092" y="1193292"/>
            <a:ext cx="356616" cy="356616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99064" y="1655064"/>
            <a:ext cx="713232" cy="713232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ear 6 9"/>
          <p:cNvSpPr/>
          <p:nvPr/>
        </p:nvSpPr>
        <p:spPr>
          <a:xfrm>
            <a:off x="10977372" y="1833372"/>
            <a:ext cx="356616" cy="356616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10344" y="2478024"/>
            <a:ext cx="713232" cy="71323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ightning Bolt 11"/>
          <p:cNvSpPr/>
          <p:nvPr/>
        </p:nvSpPr>
        <p:spPr>
          <a:xfrm>
            <a:off x="9788652" y="2656332"/>
            <a:ext cx="356616" cy="35661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07624" y="3209544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10885932" y="3387852"/>
            <a:ext cx="356616" cy="356616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96012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Mahaveer. Rajendra. Savanur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Head of Engineering &amp; AI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Spruha Build-in Solutions  |  Powered by Moku:Go — Liquid Instruments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Day 5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5: AI-Augmented Curriculum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243584" y="1563624"/>
            <a:ext cx="530352" cy="530352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ave 10"/>
          <p:cNvSpPr/>
          <p:nvPr/>
        </p:nvSpPr>
        <p:spPr>
          <a:xfrm>
            <a:off x="1376172" y="1696212"/>
            <a:ext cx="265176" cy="265176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6276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8:00 – 8:30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6276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Welcome &amp; Day 5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2677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25603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1243584" y="2478024"/>
            <a:ext cx="530352" cy="530352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ear 6 16"/>
          <p:cNvSpPr/>
          <p:nvPr/>
        </p:nvSpPr>
        <p:spPr>
          <a:xfrm>
            <a:off x="1376172" y="2610612"/>
            <a:ext cx="265176" cy="265176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25420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8:30 – 10:30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5420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Moku Custom Instrument (MCC) Session</a:t>
            </a:r>
            <a:r>
              <a:rPr sz="1200" b="0">
                <a:solidFill>
                  <a:srgbClr val="5A6B7B"/>
                </a:solidFill>
                <a:latin typeface="Calibri"/>
              </a:rPr>
              <a:t>    FPGA inside the instrument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1821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34747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1243584" y="3392424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ightning Bolt 22"/>
          <p:cNvSpPr/>
          <p:nvPr/>
        </p:nvSpPr>
        <p:spPr>
          <a:xfrm>
            <a:off x="1376172" y="3525012"/>
            <a:ext cx="265176" cy="26517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34564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10:45 – 12:30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4564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AI-Assisted Curriculum Mapping</a:t>
            </a:r>
            <a:r>
              <a:rPr sz="1200" b="0">
                <a:solidFill>
                  <a:srgbClr val="5A6B7B"/>
                </a:solidFill>
                <a:latin typeface="Calibri"/>
              </a:rPr>
              <a:t>    context primer + mapping prompt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0965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43891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1243584" y="4306824"/>
            <a:ext cx="530352" cy="53035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n 28"/>
          <p:cNvSpPr/>
          <p:nvPr/>
        </p:nvSpPr>
        <p:spPr>
          <a:xfrm>
            <a:off x="1376172" y="4439412"/>
            <a:ext cx="265176" cy="265176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43708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1:30 – 4:30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3708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AI-Assisted Experiment Design</a:t>
            </a:r>
            <a:r>
              <a:rPr sz="1200" b="0">
                <a:solidFill>
                  <a:srgbClr val="5A6B7B"/>
                </a:solidFill>
                <a:latin typeface="Calibri"/>
              </a:rPr>
              <a:t>    GPT ideation → Claude design → faculty verification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0109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4360" y="53035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1243584" y="5221224"/>
            <a:ext cx="530352" cy="530352"/>
          </a:xfrm>
          <a:prstGeom prst="ellipse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be 34"/>
          <p:cNvSpPr/>
          <p:nvPr/>
        </p:nvSpPr>
        <p:spPr>
          <a:xfrm>
            <a:off x="1376172" y="5353812"/>
            <a:ext cx="265176" cy="265176"/>
          </a:xfrm>
          <a:prstGeom prst="cub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52852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4:30 – 5:00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52852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Sharing, Wrap-Up &amp; Certificates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AI + SDI = Industry 4.0 Curriculum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Two tools, used the way industry actually uses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5: AI-Augmented Curriculum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5464911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5464911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What You Bring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920240"/>
            <a:ext cx="5245455" cy="16550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Subject expertise and syllabus knowledge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4 days of hands-on SDI automation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Judgment — you accept or reject AI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1371600"/>
            <a:ext cx="5464911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863" y="1371600"/>
            <a:ext cx="5464911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What AI Brings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1" y="1920240"/>
            <a:ext cx="5245455" cy="16550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Speed: a curriculum map in minutes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Breadth: ideas you would not think of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Drafting: complete experiment documents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22776"/>
            <a:ext cx="5464911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22776"/>
            <a:ext cx="5464911" cy="45720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What You Leave 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471416"/>
            <a:ext cx="5245455" cy="16550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A curriculum map for YOUR subject,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ready for your HoD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One complete new SDI experiment,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AI-designed, faculty-owned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3863" y="3922776"/>
            <a:ext cx="5464911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922776"/>
            <a:ext cx="5464911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Ground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4471416"/>
            <a:ext cx="5245455" cy="16550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AI is the assistant, you are the expert.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Every output gets verified against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what you learned in Days 1–4.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Moku Custom Instrument (MCC) — What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Your own Verilog, running inside the instrument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5: AI-Augmented Curriculum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355793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3557930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920240"/>
            <a:ext cx="3338474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Custom Verilog on the Moku:Go's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Zynq-7020 FPGA, deployed alongside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the standard instruments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Synthesis runs on the LI cloud —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no local Vivado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6882" y="1371600"/>
            <a:ext cx="355793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6882" y="1371600"/>
            <a:ext cx="3557930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6610" y="1920240"/>
            <a:ext cx="3338474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"Instrument shell + custom DSP core"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Your logic lives inside a fixed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CustomWrapper module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Python ⇄ FPGA via Control/Status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registers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0844" y="1371600"/>
            <a:ext cx="355793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0844" y="1371600"/>
            <a:ext cx="3557930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Why Teach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0572" y="1920240"/>
            <a:ext cx="3338474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Bridges FPGA lab → industry test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equipment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Shows how SDI products are built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Fits Digital Design / VLSI / DSP /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Communication Systems labs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MCC — The 5 Key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Interactive: trainer shows lab Verilog left, MCC equivalent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5: AI-Augmented Curriculum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17320"/>
          <a:ext cx="11185855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466344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Your FPGA lab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MCC reality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</a:tr>
              <a:tr h="466344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Name your own top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Always CustomWrapper — hardcoded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Choose your clock frequency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Clk = 125 MHz system clock, fixed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</a:tr>
              <a:tr h="466344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Define your own I/O 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Fixed port list — logic goes inside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Raw integer signal values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Q1.15 signed 16-bit: 32767 = +1.0 V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</a:tr>
              <a:tr h="466344"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JTAG / hardware programmer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/>
                    <a:lstStyle/>
                    <a:p>
                      <a:pPr algn="l"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A202C"/>
                          </a:solidFill>
                          <a:latin typeface="Calibri"/>
                        </a:rPr>
                        <a:t>Python via Control0–19 and Status0–3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120640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Calibri"/>
              </a:rPr>
              <a:t>Also: OutputD is not physical on Moku:Go; OutputC disconnects in 3-slot MIM; LUTs use initial-begin with $sin/$cos, not .mif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MCC Hands-On — Threshold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60 minutes • scripts/day5/mcc_threshold_detector_* • intentionally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5: AI-Augmented Curriculum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3669" y="154533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1615401" y="168706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Complete the skeleton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3 guided TODOs: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compare, drive,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count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47923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5395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6145" y="154533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4507877" y="168706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0259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MCC cloud build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upload .v file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LI cloud builds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the bitstream</a:t>
            </a:r>
          </a:p>
        </p:txBody>
      </p:sp>
      <p:sp>
        <p:nvSpPr>
          <p:cNvPr id="20" name="Oval 19"/>
          <p:cNvSpPr/>
          <p:nvPr/>
        </p:nvSpPr>
        <p:spPr>
          <a:xfrm>
            <a:off x="3459403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0399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7871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58621" y="154533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7400353" y="168706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2735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Deploy + run host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MiM: custom inst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+ WG test signal</a:t>
            </a:r>
          </a:p>
        </p:txBody>
      </p:sp>
      <p:sp>
        <p:nvSpPr>
          <p:cNvPr id="26" name="Oval 25"/>
          <p:cNvSpPr/>
          <p:nvPr/>
        </p:nvSpPr>
        <p:spPr>
          <a:xfrm>
            <a:off x="6351879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32875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0347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51097" y="154533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10292829" y="168706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211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Observe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Status0 ≈ 100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crossings/sec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for 100 Hz sine</a:t>
            </a:r>
          </a:p>
        </p:txBody>
      </p:sp>
      <p:sp>
        <p:nvSpPr>
          <p:cNvPr id="32" name="Oval 31"/>
          <p:cNvSpPr/>
          <p:nvPr/>
        </p:nvSpPr>
        <p:spPr>
          <a:xfrm>
            <a:off x="9244355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11880"/>
            <a:ext cx="5464911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611880"/>
            <a:ext cx="5464911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Instrument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4160520"/>
            <a:ext cx="5245455" cy="1645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InputA vs threshold (Control0)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OutputA: +1 V when above, else 0 V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Status0: crossings per second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3863" y="3611880"/>
            <a:ext cx="5464911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3863" y="3611880"/>
            <a:ext cx="5464911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Experiments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3591" y="4160520"/>
            <a:ext cx="5245455" cy="1645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Raise threshold above peak → 0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Double the frequency → double count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Why count in FPGA, not Python?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Python ⇄ FPGA — Control &amp; Status Registers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5: AI-Augmented Curriculum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704088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day5/mcc_threshold_detector_host.py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# verified against moku 4.1.2.1: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# CustomInstrument is the canonical class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# (CloudCompile was deprecated in 4.1.1)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from moku.instruments import CustomInstrument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ci = m.set_instrument(1, CustomInstrument,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 bitstream='threshold.tar')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wg = m.set_instrument(2, WaveformGenerator)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# threshold = 0.5 x full scale (Q1.15)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ci.set_control(0, 16384)       # -&gt; Control0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crossings = ci.get_status()[0]  # &lt;- Status0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print(f'Crossings/sec: {crossings}')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08192"/>
            <a:ext cx="7040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Q1.15 scale: 32767 = +1.0 V • 16384 = +0.5 V • 0x2000 = +0.25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261872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59"/>
                </a:solidFill>
                <a:latin typeface="Calibri"/>
              </a:rP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7872983" y="1773936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ghtning Bolt 12"/>
          <p:cNvSpPr/>
          <p:nvPr/>
        </p:nvSpPr>
        <p:spPr>
          <a:xfrm>
            <a:off x="7950707" y="1851660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In the Verilog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wire signed [15:0] threshold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  = Control0[15:0];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Status0 &lt;= crossing_count;</a:t>
            </a:r>
          </a:p>
        </p:txBody>
      </p:sp>
      <p:sp>
        <p:nvSpPr>
          <p:cNvPr id="15" name="Oval 14"/>
          <p:cNvSpPr/>
          <p:nvPr/>
        </p:nvSpPr>
        <p:spPr>
          <a:xfrm>
            <a:off x="7872983" y="2962655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ghtning Bolt 15"/>
          <p:cNvSpPr/>
          <p:nvPr/>
        </p:nvSpPr>
        <p:spPr>
          <a:xfrm>
            <a:off x="7950707" y="3040379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53511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20 in, 4 out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Control0–19: Python → FPGA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Status0–3:  FPGA → Python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that is the ENTIRE interface</a:t>
            </a:r>
          </a:p>
        </p:txBody>
      </p:sp>
      <p:sp>
        <p:nvSpPr>
          <p:cNvPr id="18" name="Oval 17"/>
          <p:cNvSpPr/>
          <p:nvPr/>
        </p:nvSpPr>
        <p:spPr>
          <a:xfrm>
            <a:off x="7872983" y="4151374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ghtning Bolt 18"/>
          <p:cNvSpPr/>
          <p:nvPr/>
        </p:nvSpPr>
        <p:spPr>
          <a:xfrm>
            <a:off x="7950707" y="4229098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142230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Teaching point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no JTAG, no programmer —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reconfiguration is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Day 5 AI Workflow — 4 Prompts, 2 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All four prompts ship in scripts/day5/ — free tiers are enough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5: AI-Augmented Curriculum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3669" y="154533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1615401" y="168706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SDI Context Primer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paste FIRST into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BOTH Claude &amp; GPT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new chats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47923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5395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6145" y="154533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4507877" y="168706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0259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Curriculum Mapping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map Days 1–4 onto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YOUR syllabus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either AI</a:t>
            </a:r>
          </a:p>
        </p:txBody>
      </p:sp>
      <p:sp>
        <p:nvSpPr>
          <p:cNvPr id="20" name="Oval 19"/>
          <p:cNvSpPr/>
          <p:nvPr/>
        </p:nvSpPr>
        <p:spPr>
          <a:xfrm>
            <a:off x="3459403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0399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7871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58621" y="154533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7400353" y="168706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2735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GPT Ideation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3 experiment ideas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for your subject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you pick ONE</a:t>
            </a:r>
          </a:p>
        </p:txBody>
      </p:sp>
      <p:sp>
        <p:nvSpPr>
          <p:cNvPr id="26" name="Oval 25"/>
          <p:cNvSpPr/>
          <p:nvPr/>
        </p:nvSpPr>
        <p:spPr>
          <a:xfrm>
            <a:off x="6351879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32875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0347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51097" y="154533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10292829" y="168706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211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Claude Design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full experiment doc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with code scaffold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you verify</a:t>
            </a:r>
          </a:p>
        </p:txBody>
      </p:sp>
      <p:sp>
        <p:nvSpPr>
          <p:cNvPr id="32" name="Oval 31"/>
          <p:cNvSpPr/>
          <p:nvPr/>
        </p:nvSpPr>
        <p:spPr>
          <a:xfrm>
            <a:off x="9244355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520440"/>
            <a:ext cx="11155680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57B8"/>
                </a:solidFill>
                <a:latin typeface="Calibri"/>
              </a:rPr>
              <a:t>Why the split?  </a:t>
            </a:r>
            <a:r>
              <a:rPr sz="1500" b="0">
                <a:solidFill>
                  <a:srgbClr val="1A202C"/>
                </a:solidFill>
                <a:latin typeface="Calibri"/>
              </a:rPr>
              <a:t>GPT tends to ideate more freely; Claude produces more structured, verifiable output. You are the judge of both.</a:t>
            </a:r>
          </a:p>
        </p:txBody>
      </p:sp>
      <p:sp>
        <p:nvSpPr>
          <p:cNvPr id="34" name="Oval 33"/>
          <p:cNvSpPr/>
          <p:nvPr/>
        </p:nvSpPr>
        <p:spPr>
          <a:xfrm>
            <a:off x="566928" y="419252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" y="4178808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Step 1 is mandatory — without the primer, the AI invents API methods and hardware specs</a:t>
            </a:r>
          </a:p>
        </p:txBody>
      </p:sp>
      <p:sp>
        <p:nvSpPr>
          <p:cNvPr id="36" name="Oval 35"/>
          <p:cNvSpPr/>
          <p:nvPr/>
        </p:nvSpPr>
        <p:spPr>
          <a:xfrm>
            <a:off x="566928" y="461314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" y="4599432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Every code scaffold gets cross-checked against the patterns you used in Days 1–4</a:t>
            </a:r>
          </a:p>
        </p:txBody>
      </p:sp>
      <p:sp>
        <p:nvSpPr>
          <p:cNvPr id="38" name="Oval 37"/>
          <p:cNvSpPr/>
          <p:nvPr/>
        </p:nvSpPr>
        <p:spPr>
          <a:xfrm>
            <a:off x="566928" y="503377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" y="5020056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Trainer reviews each design before it is finalized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Morning — AI-Assisted Curriculum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10:45 – 12:30 • output: a map ready for your 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5: AI-Augmented Curriculum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3669" y="154533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1615401" y="168706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Prime (30 min)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paste the SDI primer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into Claude AND GPT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47923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5395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6145" y="154533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4507877" y="168706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0259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Pick a subject (15 min)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one course YOU teach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list its units</a:t>
            </a:r>
          </a:p>
        </p:txBody>
      </p:sp>
      <p:sp>
        <p:nvSpPr>
          <p:cNvPr id="20" name="Oval 19"/>
          <p:cNvSpPr/>
          <p:nvPr/>
        </p:nvSpPr>
        <p:spPr>
          <a:xfrm>
            <a:off x="3459403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0399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7871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58621" y="154533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7400353" y="168706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2735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Map (60 min)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run mapping prompt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iterate on weak fits</a:t>
            </a:r>
          </a:p>
        </p:txBody>
      </p:sp>
      <p:sp>
        <p:nvSpPr>
          <p:cNvPr id="26" name="Oval 25"/>
          <p:cNvSpPr/>
          <p:nvPr/>
        </p:nvSpPr>
        <p:spPr>
          <a:xfrm>
            <a:off x="6351879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32875" y="2231136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0347" y="1371600"/>
            <a:ext cx="2508427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51097" y="154533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10292829" y="168706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211" y="2212848"/>
            <a:ext cx="2398699" cy="10241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Refine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1–2 page document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Bloom's level per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experiment</a:t>
            </a:r>
          </a:p>
        </p:txBody>
      </p:sp>
      <p:sp>
        <p:nvSpPr>
          <p:cNvPr id="32" name="Oval 31"/>
          <p:cNvSpPr/>
          <p:nvPr/>
        </p:nvSpPr>
        <p:spPr>
          <a:xfrm>
            <a:off x="9244355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11880"/>
            <a:ext cx="5464911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611880"/>
            <a:ext cx="5464911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Good Mapping Looks Like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4160520"/>
            <a:ext cx="5245455" cy="1645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Each experiment tied to a real unit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Honest "weak fit" where true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Lab-slot weeks that match your term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3863" y="3611880"/>
            <a:ext cx="5464911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3863" y="3611880"/>
            <a:ext cx="5464911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Watch Out For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3591" y="4160520"/>
            <a:ext cx="5245455" cy="1645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AI forcing every experiment to fit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Invented syllabus topics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Bloom's levels with no justification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Afternoon — AI-Assisted Experiment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1:30 – 4:30 • output: one complete experiment, faculty-owned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5: AI-Augmented Curriculum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5464911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5464911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920240"/>
            <a:ext cx="5245455" cy="16550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GPT — ideation: 3 candidate ideas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Claude — structured design + code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YOU — domain expert and judge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1371600"/>
            <a:ext cx="5464911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863" y="1371600"/>
            <a:ext cx="5464911" cy="45720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Ideate (30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1" y="1920240"/>
            <a:ext cx="5245455" cy="16550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GPT ideation prompt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3 ideas, genuinely different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pick the one YOUR students need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22776"/>
            <a:ext cx="5464911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22776"/>
            <a:ext cx="5464911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Design (90 min)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471416"/>
            <a:ext cx="5245455" cy="16550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Claude design prompt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Aim/Apparatus/Theory/Procedure,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code scaffold, viva questions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iterate until it fits your syllabus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3863" y="3922776"/>
            <a:ext cx="5464911" cy="22951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863" y="3922776"/>
            <a:ext cx="5464911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Verify (45 min)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4471416"/>
            <a:ext cx="5245455" cy="16550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Cross-check every API call vs Days 1–4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Flag anything unfamiliar: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"# TODO: verify against moku docs"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202C"/>
                </a:solidFill>
                <a:latin typeface="Calibri"/>
              </a:rPr>
              <a:t>Trainer review, then finalize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Your Day 5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Both ready for submission to your institution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5: AI-Augmented Curriculum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64911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5464911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 — Curriculum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965960"/>
            <a:ext cx="5245455" cy="2560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Days 1–4 experiments mapped to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YOUR subject's syllabus units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Bloom's alignment + lab slots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AI-generated, faculty-verified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1417320"/>
            <a:ext cx="5464911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863" y="1417320"/>
            <a:ext cx="5464911" cy="4572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 — New SDI Experiment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1" y="1965960"/>
            <a:ext cx="5245455" cy="2560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Complete lab document for one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NEW experiment in your subject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Verified Python code scaffold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AI-designed, faculty-owned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6B35"/>
                </a:solidFill>
                <a:latin typeface="Calibri"/>
              </a:rPr>
              <a:t>Sharing at 4:30 — </a:t>
            </a:r>
            <a:r>
              <a:rPr sz="1600" b="0">
                <a:solidFill>
                  <a:srgbClr val="1A202C"/>
                </a:solidFill>
                <a:latin typeface="Calibri"/>
              </a:rPr>
              <a:t>2–3 volunteers present their designed experiment to the group. Then: certificates.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58952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5-Day FDP Complete!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858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What You Achieved Today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8013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Day 1–2: Python control of 4 instruments + MiM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585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2585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Day 3: streaming, FFT/SNR/THD, professional systems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7157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7157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Day 4: industry patterns + automated capstone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729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1729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Day 5: MCC on the FPGA + AI curriculum artifacts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6301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You leave with code, a map, and a new experiment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3703320" cy="2249424"/>
          </a:xfrm>
          <a:prstGeom prst="rect">
            <a:avLst/>
          </a:prstGeom>
          <a:solidFill>
            <a:srgbClr val="16325C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371600"/>
            <a:ext cx="33832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Take It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All materials: the GitHub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95143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Replicate exercises in your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15767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Deploy your new experiment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36391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Support: info@spruha.in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12080"/>
            <a:ext cx="10927080" cy="117043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36576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Best Automation…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72414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…is the one you actually use. Start small, prove the value, and build from there. — Team Spruha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Spruha Build-in Solutions  |  Powered by Moku:Go — Liquid Instruments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