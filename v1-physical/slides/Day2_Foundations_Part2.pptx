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DAY 2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Foundations — Part 2
&amp; Integration Begins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"Advanced Instruments &amp; Multi-Instrument Introduction"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35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8" name="Oval 7"/>
          <p:cNvSpPr/>
          <p:nvPr/>
        </p:nvSpPr>
        <p:spPr>
          <a:xfrm>
            <a:off x="85953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/>
          <p:cNvSpPr/>
          <p:nvPr/>
        </p:nvSpPr>
        <p:spPr>
          <a:xfrm>
            <a:off x="1017545" y="5178065"/>
            <a:ext cx="342351" cy="342351"/>
          </a:xfrm>
          <a:prstGeom prst="wav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1965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ear 6 10"/>
          <p:cNvSpPr/>
          <p:nvPr/>
        </p:nvSpPr>
        <p:spPr>
          <a:xfrm>
            <a:off x="1977665" y="5178065"/>
            <a:ext cx="342351" cy="342351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7977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ghtning Bolt 12"/>
          <p:cNvSpPr/>
          <p:nvPr/>
        </p:nvSpPr>
        <p:spPr>
          <a:xfrm>
            <a:off x="2937785" y="5178065"/>
            <a:ext cx="342351" cy="342351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3989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n 14"/>
          <p:cNvSpPr/>
          <p:nvPr/>
        </p:nvSpPr>
        <p:spPr>
          <a:xfrm>
            <a:off x="3897905" y="5178065"/>
            <a:ext cx="342351" cy="342351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Mahaveer. Rajendra. Savanur  |  Head of Engineering &amp; AI Systems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2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Oval 5"/>
          <p:cNvSpPr/>
          <p:nvPr/>
        </p:nvSpPr>
        <p:spPr>
          <a:xfrm>
            <a:off x="585216" y="1271016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234440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8:00 – 8:15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23444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Day 1 Recap</a:t>
            </a:r>
            <a:r>
              <a:rPr sz="1200" b="0">
                <a:solidFill>
                  <a:srgbClr val="5A6B7B"/>
                </a:solidFill>
                <a:latin typeface="Calibri"/>
              </a:rPr>
              <a:t>   quick quiz + questions</a:t>
            </a:r>
          </a:p>
        </p:txBody>
      </p:sp>
      <p:sp>
        <p:nvSpPr>
          <p:cNvPr id="9" name="Oval 8"/>
          <p:cNvSpPr/>
          <p:nvPr/>
        </p:nvSpPr>
        <p:spPr>
          <a:xfrm>
            <a:off x="585216" y="1947672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911096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8:15 – 10:30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911096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AWG + Logic Analyzer</a:t>
            </a:r>
            <a:r>
              <a:rPr sz="1200" b="0">
                <a:solidFill>
                  <a:srgbClr val="5A6B7B"/>
                </a:solidFill>
                <a:latin typeface="Calibri"/>
              </a:rPr>
              <a:t>   live demos + Exercises 2.1 and 2.2</a:t>
            </a:r>
          </a:p>
        </p:txBody>
      </p:sp>
      <p:sp>
        <p:nvSpPr>
          <p:cNvPr id="12" name="Oval 11"/>
          <p:cNvSpPr/>
          <p:nvPr/>
        </p:nvSpPr>
        <p:spPr>
          <a:xfrm>
            <a:off x="585216" y="2624328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2587752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10:45 – 12:30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58775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Day 1 Capstone: Frequency Response Tester</a:t>
            </a:r>
            <a:r>
              <a:rPr sz="1200" b="0">
                <a:solidFill>
                  <a:srgbClr val="5A6B7B"/>
                </a:solidFill>
                <a:latin typeface="Calibri"/>
              </a:rPr>
              <a:t>   team project</a:t>
            </a:r>
          </a:p>
        </p:txBody>
      </p:sp>
      <p:sp>
        <p:nvSpPr>
          <p:cNvPr id="15" name="Oval 14"/>
          <p:cNvSpPr/>
          <p:nvPr/>
        </p:nvSpPr>
        <p:spPr>
          <a:xfrm>
            <a:off x="585216" y="3300984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264408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1:30 – 2:30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264408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Capstone Presentations</a:t>
            </a:r>
            <a:r>
              <a:rPr sz="1200" b="0">
                <a:solidFill>
                  <a:srgbClr val="5A6B7B"/>
                </a:solidFill>
                <a:latin typeface="Calibri"/>
              </a:rPr>
              <a:t>   5 min per team</a:t>
            </a:r>
          </a:p>
        </p:txBody>
      </p:sp>
      <p:sp>
        <p:nvSpPr>
          <p:cNvPr id="18" name="Oval 17"/>
          <p:cNvSpPr/>
          <p:nvPr/>
        </p:nvSpPr>
        <p:spPr>
          <a:xfrm>
            <a:off x="585216" y="3977640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941064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2:45 – 5:00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941064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Multi-Instrument Mode Fundamentals</a:t>
            </a:r>
            <a:r>
              <a:rPr sz="1200" b="0">
                <a:solidFill>
                  <a:srgbClr val="5A6B7B"/>
                </a:solidFill>
                <a:latin typeface="Calibri"/>
              </a:rPr>
              <a:t>   routing, demo, Exercise 2.3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1 Recap — What You've Mastered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78627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Oscilloscope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865376"/>
            <a:ext cx="5332323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Frame capture, CSV logging,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Vpp statistics, summary plots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371600"/>
            <a:ext cx="5478627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Waveform Generator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3299" y="1865376"/>
            <a:ext cx="5332323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Parametric testing,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frequency sweeps, duty/symmetry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06140"/>
            <a:ext cx="5478627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34061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Automation Loops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170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899916"/>
            <a:ext cx="5332323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21-test sequences, progress logs,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efficiency measurement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3406140"/>
            <a:ext cx="5478627" cy="18059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0147" y="34061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Pattern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0147" y="37170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3299" y="3899916"/>
            <a:ext cx="5332323" cy="12390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Connect -&gt; Configure -&gt;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Acquire -&gt; Cleanup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try/finally every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86400"/>
            <a:ext cx="1115568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6B35"/>
                </a:solidFill>
                <a:latin typeface="Calibri"/>
              </a:rPr>
              <a:t>Pop quiz: </a:t>
            </a:r>
            <a:r>
              <a:rPr sz="1500" b="0">
                <a:solidFill>
                  <a:srgbClr val="1A202C"/>
                </a:solidFill>
                <a:latin typeface="Calibri"/>
              </a:rPr>
              <a:t>What does get_data() return? Why relinquish_ownership()? What happens without force_connect?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Arbitrary Waveform Generator — 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from moku.instruments import ArbitraryWaveformGenerator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import numpy as np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awg = ArbitraryWaveformGenerator(MOKU_IP,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           force_connect=True)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try: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# define ANY waveform mathematically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t = np.linspace(0, 1, 256, endpoint=False)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saw = 2*t - 1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stairs = np.floor(t*8)/4 - 1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for wf in (saw, stairs):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wf = wf / max(abs(wf))      # normalize [-1, 1]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awg.generate_waveform(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channel=1,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sample_rate='Auto',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lut_data=list(wf),      # LIST, not ndarray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frequency=1e3,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amplitude=1.0)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time.sleep(2)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finally: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awg.relinquish_ownership()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69494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day2/ex2_1_awg_custom_waveforms.py (excerpt)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32588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lut_data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3677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819656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Plain Python list — list(arr)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Normalized to [-1, 1]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sample_rate='Auto' is fine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880360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288036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#1 mistake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19125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3374136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Passing a numpy array directly.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Always wrap with list().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4197096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4197096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AWG?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507992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4690872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Sensor simulation, distorted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signals, anything math can define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Exercise 2.1 — Custom Waveform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30 minutes  •  day2/ex2_1_awg_custom_waveforms.py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Build 5 Waveforms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sine  •  sawtooth  •  triangle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staircase  •  half-rectified sine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All from numpy expressions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Library Workflow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Preview plot BEFORE hardware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Save to waveform_library.json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Output each at 1 kHz / 1 Vpp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waveform_library.png matches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expected_outputs/ex2_1_expected.png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Watch each shape on the scope app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Finished Early?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Add a Gaussian pulse and a chirp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Load the JSON back and replay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Design a waveform that spells "M"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Logic Analyzer — Hardware-Verified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from moku.instruments import LogicAnalyzer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la = LogicAnalyzer(MOKU_IP, force_connect=True)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try: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clock = [1, 0] * 50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mosi  = [1,0,1,1,0,0,1,0] * 12 + [0]*4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# ALL pins in ONE call to PG channel 1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la.set_pattern_generator(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channel=1,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patterns=[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{"pin": 1, "pattern": clock[:100]},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{"pin": 4, "pattern": mosi[:100]},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],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divider=5)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# pin mode is 'PG1' — NOT 'Pattern'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la.set_pin_mode(1, 'PG1')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la.set_pin_mode(4, 'PG1')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data = la.get_data(include_pins=[1, 4])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finally: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la.relinquish_ownership()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69494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day2/ex2_2_logic_analyzer_spi.py (excerpt) — verified moku v4.1.2, March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3977639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32588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Hardware-verified fixes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3677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819656"/>
            <a:ext cx="3831335" cy="106070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channel=1 is the PG channel,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NOT a pin number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patterns = list of dicts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pin mode 'PG1', not 'Pattern'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3118104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3118104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Order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429000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3611880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Configure the pattern generator,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then set pin modes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4434840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443484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Use it for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74573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4928616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SPI / I2C / UART teaching,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protocol timing diagrams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Exercise 2.2 — SPI Bus Pattern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30 minutes  •  day2/ex2_2_logic_analyzer_spi.py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4-Wire Setup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Pin 1: CLK — square wave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Pin 2: DATA — byte pattern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Pin 3: CS — frame select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Pin 4: MOSI — data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Capture &amp; Plot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get_data(include_pins=[1,2,3,4])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4-panel timing diagram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spi_signals.png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Compare with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expected_outputs/ex2_2_expected.png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CLK edges align with DATA bits?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Finished Early?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Re-create a UART frame: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start bit + 8 data bits + stop bit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Add even parity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1 Capstone — Automated Frequency Response Tester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Team project  •  105 minutes  •  the bridge to Multi-Instrument Mode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487853" cy="146304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Waveform
Generator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sine sweep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20+ points, log-spaced</a:t>
            </a:r>
          </a:p>
        </p:txBody>
      </p:sp>
      <p:sp>
        <p:nvSpPr>
          <p:cNvPr id="8" name="Oval 7"/>
          <p:cNvSpPr/>
          <p:nvPr/>
        </p:nvSpPr>
        <p:spPr>
          <a:xfrm>
            <a:off x="1563966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27349" y="217627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253" y="1554480"/>
            <a:ext cx="2487853" cy="146304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Loopback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Output 1 -&gt; Input 1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(later: a real DUT)</a:t>
            </a:r>
          </a:p>
        </p:txBody>
      </p:sp>
      <p:sp>
        <p:nvSpPr>
          <p:cNvPr id="11" name="Oval 10"/>
          <p:cNvSpPr/>
          <p:nvPr/>
        </p:nvSpPr>
        <p:spPr>
          <a:xfrm>
            <a:off x="4463299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26683" y="217627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554480"/>
            <a:ext cx="2487853" cy="146304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Oscilloscope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capture at each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frequency</a:t>
            </a:r>
          </a:p>
        </p:txBody>
      </p:sp>
      <p:sp>
        <p:nvSpPr>
          <p:cNvPr id="14" name="Oval 13"/>
          <p:cNvSpPr/>
          <p:nvPr/>
        </p:nvSpPr>
        <p:spPr>
          <a:xfrm>
            <a:off x="7362633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6017" y="217627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00921" y="1554480"/>
            <a:ext cx="2487853" cy="146304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Analysis
&amp; Report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gain in dB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Bode plot + CSV</a:t>
            </a:r>
          </a:p>
        </p:txBody>
      </p:sp>
      <p:sp>
        <p:nvSpPr>
          <p:cNvPr id="17" name="Oval 16"/>
          <p:cNvSpPr/>
          <p:nvPr/>
        </p:nvSpPr>
        <p:spPr>
          <a:xfrm>
            <a:off x="10261967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547862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Requirements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69417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877056"/>
            <a:ext cx="5332323" cy="153619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100 Hz – 10 MHz, 20+ log points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Gain = 20·log10(Vout/Vin)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CSV + Bode plot + short report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0147" y="3383280"/>
            <a:ext cx="547862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147" y="338328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0147" y="369417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3299" y="3877056"/>
            <a:ext cx="5332323" cy="153619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Functionality 40% • Code 20%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Documentation 20% • Results 20%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6B35"/>
                </a:solidFill>
                <a:latin typeface="Calibri"/>
              </a:rPr>
              <a:t>Checkpoints: </a:t>
            </a:r>
            <a:r>
              <a:rPr sz="1400" b="0">
                <a:solidFill>
                  <a:srgbClr val="1A202C"/>
                </a:solidFill>
                <a:latin typeface="Calibri"/>
              </a:rPr>
              <a:t>15 min — plan documented  •  30 min — single measurement works  •  60 min — full loop runs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Capstone Presentations — Your Turn!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5 minutes per team, strictly timed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0:30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Problem statement</a:t>
            </a:r>
          </a:p>
        </p:txBody>
      </p:sp>
      <p:sp>
        <p:nvSpPr>
          <p:cNvPr id="8" name="Oval 7"/>
          <p:cNvSpPr/>
          <p:nvPr/>
        </p:nvSpPr>
        <p:spPr>
          <a:xfrm>
            <a:off x="1274033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47483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22387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1:00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Approach &amp;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instruments</a:t>
            </a:r>
          </a:p>
        </p:txBody>
      </p:sp>
      <p:sp>
        <p:nvSpPr>
          <p:cNvPr id="11" name="Oval 10"/>
          <p:cNvSpPr/>
          <p:nvPr/>
        </p:nvSpPr>
        <p:spPr>
          <a:xfrm>
            <a:off x="3593500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66950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1854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2:00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LIVE DEMO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run the code</a:t>
            </a:r>
          </a:p>
        </p:txBody>
      </p:sp>
      <p:sp>
        <p:nvSpPr>
          <p:cNvPr id="14" name="Oval 13"/>
          <p:cNvSpPr/>
          <p:nvPr/>
        </p:nvSpPr>
        <p:spPr>
          <a:xfrm>
            <a:off x="5912967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86417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61321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1:00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Challenges &amp;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solutions</a:t>
            </a:r>
          </a:p>
        </p:txBody>
      </p:sp>
      <p:sp>
        <p:nvSpPr>
          <p:cNvPr id="17" name="Oval 16"/>
          <p:cNvSpPr/>
          <p:nvPr/>
        </p:nvSpPr>
        <p:spPr>
          <a:xfrm>
            <a:off x="8232434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05884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0788" y="1645920"/>
            <a:ext cx="1907987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0:30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Q&amp;A</a:t>
            </a:r>
          </a:p>
        </p:txBody>
      </p:sp>
      <p:sp>
        <p:nvSpPr>
          <p:cNvPr id="20" name="Oval 19"/>
          <p:cNvSpPr/>
          <p:nvPr/>
        </p:nvSpPr>
        <p:spPr>
          <a:xfrm>
            <a:off x="10551901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2102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520440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Live demo beats slides — show the script producing real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3941064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Tell us the one bug that cost you the most time, and how you found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6227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4361688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Evaluation: Functionality 40% • Code quality 20% • Results 20% • Presentation 20%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Multi-Instrument Mode (MiM)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The most powerful feature of the platform — two instruments, one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Traditional: One at a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7190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Only ONE instrument loaded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Switch manually, lose state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Slow for stimulus-response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MiM: Two at Once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7190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Slot 1 + Slot 2 run simultaneously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Internal digital routing — no cables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A202C"/>
                </a:solidFill>
                <a:latin typeface="Calibri"/>
              </a:rPr>
              <a:t>platform_id=2 on Moku:Go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40480"/>
            <a:ext cx="11155680" cy="2286000"/>
          </a:xfrm>
          <a:prstGeom prst="roundRect">
            <a:avLst>
              <a:gd name="adj" fmla="val 8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FF8A8A"/>
                </a:solidFill>
                <a:latin typeface="Consolas"/>
              </a:rPr>
              <a:t># WRONG — plain dict: duplicate keys silently vanish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F8A8A"/>
                </a:solidFill>
                <a:latin typeface="Consolas"/>
              </a:rPr>
              <a:t>m.set_connections(connections={'Slot1OutA': 'Slot2InA'})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8AFFB0"/>
                </a:solidFill>
                <a:latin typeface="Consolas"/>
              </a:rPr>
              <a:t># RIGHT — LIST of DICTS (hardware-verified)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m.set_connections(connections=[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dict(source='Slot1OutA', destination='Output1'),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dict(source='Input1',    destination='Slot2InA'),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Write it down: connections is a LIST of DICTS. This is the #1 MiM mistake.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Routing Configurations — Signal Pathways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Moku:Go, platform_id=2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53619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Input1, Input2  (physical inputs)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Slot1OutA, Slot1OutB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Slot2OutA, Slot2OutB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Destinations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53619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Output1, Output2  (physical outputs)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Slot1InA, Slot1InB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Slot2InA, Slot2InB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49039"/>
            <a:ext cx="357621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Loopback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5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242815"/>
            <a:ext cx="3429914" cy="153619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Slot1OutA -&gt; Slot2InA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scope sees WG directly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3749039"/>
            <a:ext cx="357621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07738" y="3749039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DUT Testing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7738" y="4059935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0890" y="4242815"/>
            <a:ext cx="3429914" cy="153619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Slot1OutA -&gt; Output1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Input1 -&gt; Slot2InA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signal passes through your DUT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2556" y="3749039"/>
            <a:ext cx="357621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12556" y="3749039"/>
            <a:ext cx="3576218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Dual Compare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12556" y="4059935"/>
            <a:ext cx="3576218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5708" y="4242815"/>
            <a:ext cx="3429914" cy="153619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Slot1OutA -&gt; Slot2InA (generated)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Input1 -&gt; Slot2InB (external)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MiM — Critical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Hardware-verified — these are exam questions for the rest of the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34564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One MultiInstrument() connection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platform_id=2 for Moku:Go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connections = list of dicts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m.relinquish_ownership() in finally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settle ≥ 50 ms before capture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DON'T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34564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Open separate instrument connections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Pass a plain dict to set_connections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Use set_trigger source='Input1' in MiM —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NOT valid; auto-trigger works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Release wg/osc individually — crashes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Day 2 Complete!</a:t>
            </a:r>
          </a:p>
        </p:txBody>
      </p:sp>
      <p:sp>
        <p:nvSpPr>
          <p:cNvPr id="5" name="Oval 4"/>
          <p:cNvSpPr/>
          <p:nvPr/>
        </p:nvSpPr>
        <p:spPr>
          <a:xfrm>
            <a:off x="850392" y="1618488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91056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Controlled the AWG — custom waveforms from numpy (lut_data)</a:t>
            </a:r>
          </a:p>
        </p:txBody>
      </p:sp>
      <p:sp>
        <p:nvSpPr>
          <p:cNvPr id="7" name="Oval 6"/>
          <p:cNvSpPr/>
          <p:nvPr/>
        </p:nvSpPr>
        <p:spPr>
          <a:xfrm>
            <a:off x="850392" y="2112264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84832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Controlled the Logic Analyzer — verified pattern-generator API</a:t>
            </a:r>
          </a:p>
        </p:txBody>
      </p:sp>
      <p:sp>
        <p:nvSpPr>
          <p:cNvPr id="9" name="Oval 8"/>
          <p:cNvSpPr/>
          <p:nvPr/>
        </p:nvSpPr>
        <p:spPr>
          <a:xfrm>
            <a:off x="850392" y="2606040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78608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Built and presented the Frequency Response Tester capstone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3099816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072384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Learned MiM fundamentals: slots, routing, the list-of-dicts rule</a:t>
            </a:r>
          </a:p>
        </p:txBody>
      </p:sp>
      <p:sp>
        <p:nvSpPr>
          <p:cNvPr id="13" name="Oval 12"/>
          <p:cNvSpPr/>
          <p:nvPr/>
        </p:nvSpPr>
        <p:spPr>
          <a:xfrm>
            <a:off x="850392" y="3593592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566160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Exercise 2.3 tomorrow puts MiM to work on a real sweep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105156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Tomorrow: AM modulation and filter characterization with MiM, real-time streaming, and FFT/SNR/THD signal analysis.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