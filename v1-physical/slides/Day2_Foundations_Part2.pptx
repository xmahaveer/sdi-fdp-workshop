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868680"/>
            <a:ext cx="1828800" cy="475488"/>
          </a:xfrm>
          <a:prstGeom prst="roundRect">
            <a:avLst>
              <a:gd name="adj" fmla="val 6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DAY 2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8778240" cy="1920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4800" b="1">
                <a:solidFill>
                  <a:srgbClr val="FFFFFF"/>
                </a:solidFill>
                <a:latin typeface="Calibri"/>
              </a:rPr>
              <a:t>Foundations — Part 2
&amp; Integration Begins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859536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1">
                <a:solidFill>
                  <a:srgbClr val="028090"/>
                </a:solidFill>
                <a:latin typeface="Calibri"/>
              </a:rPr>
              <a:t>"Advanced Instruments &amp; Multi-Instrument Introduction"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82296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6B35"/>
                </a:solidFill>
                <a:latin typeface="Calibri"/>
              </a:rPr>
              <a:t>5-Day SDI Lab Automation FDP  •  v2.0</a:t>
            </a:r>
          </a:p>
        </p:txBody>
      </p:sp>
      <p:sp>
        <p:nvSpPr>
          <p:cNvPr id="7" name="Oval 6"/>
          <p:cNvSpPr/>
          <p:nvPr/>
        </p:nvSpPr>
        <p:spPr>
          <a:xfrm>
            <a:off x="9701784" y="1014984"/>
            <a:ext cx="713232" cy="713232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Wave 7"/>
          <p:cNvSpPr/>
          <p:nvPr/>
        </p:nvSpPr>
        <p:spPr>
          <a:xfrm>
            <a:off x="9880092" y="1193292"/>
            <a:ext cx="356616" cy="356616"/>
          </a:xfrm>
          <a:prstGeom prst="wav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99064" y="1655064"/>
            <a:ext cx="713232" cy="713232"/>
          </a:xfrm>
          <a:prstGeom prst="ellipse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Gear 6 9"/>
          <p:cNvSpPr/>
          <p:nvPr/>
        </p:nvSpPr>
        <p:spPr>
          <a:xfrm>
            <a:off x="10977372" y="1833372"/>
            <a:ext cx="356616" cy="356616"/>
          </a:xfrm>
          <a:prstGeom prst="gear6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10344" y="2478024"/>
            <a:ext cx="713232" cy="713232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ightning Bolt 11"/>
          <p:cNvSpPr/>
          <p:nvPr/>
        </p:nvSpPr>
        <p:spPr>
          <a:xfrm>
            <a:off x="9788652" y="2656332"/>
            <a:ext cx="356616" cy="356616"/>
          </a:xfrm>
          <a:prstGeom prst="lightningBol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707624" y="3209544"/>
            <a:ext cx="713232" cy="713232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n 13"/>
          <p:cNvSpPr/>
          <p:nvPr/>
        </p:nvSpPr>
        <p:spPr>
          <a:xfrm>
            <a:off x="10885932" y="3387852"/>
            <a:ext cx="356616" cy="356616"/>
          </a:xfrm>
          <a:prstGeom prst="ca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394960"/>
            <a:ext cx="9601200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Mahaveer. Rajendra. Savanur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CADCFC"/>
                </a:solidFill>
                <a:latin typeface="Calibri"/>
              </a:rPr>
              <a:t>Head of Engineering &amp; AI Systems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Spruha Build-in Solutions  |  Powered by Moku:Go — Liquid Instruments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24712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Day 2 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Day 2: Foundations — Part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5-Day SDI Lab Automation FDP  • 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6579108"/>
            <a:ext cx="3840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Powered by Moku:Go — Liquid Instruments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1645920"/>
            <a:ext cx="365760" cy="365760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1243584" y="1563624"/>
            <a:ext cx="530352" cy="530352"/>
          </a:xfrm>
          <a:prstGeom prst="ellipse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Wave 10"/>
          <p:cNvSpPr/>
          <p:nvPr/>
        </p:nvSpPr>
        <p:spPr>
          <a:xfrm>
            <a:off x="1376172" y="1696212"/>
            <a:ext cx="265176" cy="265176"/>
          </a:xfrm>
          <a:prstGeom prst="wav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1627632"/>
            <a:ext cx="173736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B2E59"/>
                </a:solidFill>
                <a:latin typeface="Calibri"/>
              </a:rPr>
              <a:t>8:00 – 8:15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1627632"/>
            <a:ext cx="777240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A202C"/>
                </a:solidFill>
                <a:latin typeface="Calibri"/>
              </a:rPr>
              <a:t>Day 1 Recap</a:t>
            </a:r>
            <a:r>
              <a:rPr sz="1200" b="0">
                <a:solidFill>
                  <a:srgbClr val="5A6B7B"/>
                </a:solidFill>
                <a:latin typeface="Calibri"/>
              </a:rPr>
              <a:t>    quick quiz + questions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267712"/>
            <a:ext cx="10881360" cy="15240"/>
          </a:xfrm>
          <a:prstGeom prst="rect">
            <a:avLst/>
          </a:prstGeom>
          <a:solidFill>
            <a:srgbClr val="D7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94360" y="2560320"/>
            <a:ext cx="365760" cy="365760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Oval 15"/>
          <p:cNvSpPr/>
          <p:nvPr/>
        </p:nvSpPr>
        <p:spPr>
          <a:xfrm>
            <a:off x="1243584" y="2478024"/>
            <a:ext cx="530352" cy="530352"/>
          </a:xfrm>
          <a:prstGeom prst="ellipse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Gear 6 16"/>
          <p:cNvSpPr/>
          <p:nvPr/>
        </p:nvSpPr>
        <p:spPr>
          <a:xfrm>
            <a:off x="1376172" y="2610612"/>
            <a:ext cx="265176" cy="265176"/>
          </a:xfrm>
          <a:prstGeom prst="gear6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11680" y="2542032"/>
            <a:ext cx="173736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B2E59"/>
                </a:solidFill>
                <a:latin typeface="Calibri"/>
              </a:rPr>
              <a:t>8:15 – 10:30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2542032"/>
            <a:ext cx="777240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A202C"/>
                </a:solidFill>
                <a:latin typeface="Calibri"/>
              </a:rPr>
              <a:t>AWG + Logic Analyzer</a:t>
            </a:r>
            <a:r>
              <a:rPr sz="1200" b="0">
                <a:solidFill>
                  <a:srgbClr val="5A6B7B"/>
                </a:solidFill>
                <a:latin typeface="Calibri"/>
              </a:rPr>
              <a:t>    live demos + Exercises 2.1 and 2.2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182112"/>
            <a:ext cx="10881360" cy="15240"/>
          </a:xfrm>
          <a:prstGeom prst="rect">
            <a:avLst/>
          </a:prstGeom>
          <a:solidFill>
            <a:srgbClr val="D7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94360" y="3474720"/>
            <a:ext cx="365760" cy="365760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Oval 21"/>
          <p:cNvSpPr/>
          <p:nvPr/>
        </p:nvSpPr>
        <p:spPr>
          <a:xfrm>
            <a:off x="1243584" y="3392424"/>
            <a:ext cx="530352" cy="530352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Lightning Bolt 22"/>
          <p:cNvSpPr/>
          <p:nvPr/>
        </p:nvSpPr>
        <p:spPr>
          <a:xfrm>
            <a:off x="1376172" y="3525012"/>
            <a:ext cx="265176" cy="265176"/>
          </a:xfrm>
          <a:prstGeom prst="lightningBol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11680" y="3456432"/>
            <a:ext cx="173736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B2E59"/>
                </a:solidFill>
                <a:latin typeface="Calibri"/>
              </a:rPr>
              <a:t>10:45 – 12:30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86200" y="3456432"/>
            <a:ext cx="777240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A202C"/>
                </a:solidFill>
                <a:latin typeface="Calibri"/>
              </a:rPr>
              <a:t>Day 1 Capstone: Frequency Response Tester</a:t>
            </a:r>
            <a:r>
              <a:rPr sz="1200" b="0">
                <a:solidFill>
                  <a:srgbClr val="5A6B7B"/>
                </a:solidFill>
                <a:latin typeface="Calibri"/>
              </a:rPr>
              <a:t>    team project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096512"/>
            <a:ext cx="10881360" cy="15240"/>
          </a:xfrm>
          <a:prstGeom prst="rect">
            <a:avLst/>
          </a:prstGeom>
          <a:solidFill>
            <a:srgbClr val="D7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94360" y="4389120"/>
            <a:ext cx="365760" cy="365760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Oval 27"/>
          <p:cNvSpPr/>
          <p:nvPr/>
        </p:nvSpPr>
        <p:spPr>
          <a:xfrm>
            <a:off x="1243584" y="4306824"/>
            <a:ext cx="530352" cy="530352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an 28"/>
          <p:cNvSpPr/>
          <p:nvPr/>
        </p:nvSpPr>
        <p:spPr>
          <a:xfrm>
            <a:off x="1376172" y="4439412"/>
            <a:ext cx="265176" cy="265176"/>
          </a:xfrm>
          <a:prstGeom prst="ca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11680" y="4370832"/>
            <a:ext cx="173736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B2E59"/>
                </a:solidFill>
                <a:latin typeface="Calibri"/>
              </a:rPr>
              <a:t>1:30 – 2:30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0" y="4370832"/>
            <a:ext cx="777240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A202C"/>
                </a:solidFill>
                <a:latin typeface="Calibri"/>
              </a:rPr>
              <a:t>Capstone Presentations</a:t>
            </a:r>
            <a:r>
              <a:rPr sz="1200" b="0">
                <a:solidFill>
                  <a:srgbClr val="5A6B7B"/>
                </a:solidFill>
                <a:latin typeface="Calibri"/>
              </a:rPr>
              <a:t>    5 min per team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5010912"/>
            <a:ext cx="10881360" cy="15240"/>
          </a:xfrm>
          <a:prstGeom prst="rect">
            <a:avLst/>
          </a:prstGeom>
          <a:solidFill>
            <a:srgbClr val="D7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94360" y="5303520"/>
            <a:ext cx="365760" cy="365760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4" name="Oval 33"/>
          <p:cNvSpPr/>
          <p:nvPr/>
        </p:nvSpPr>
        <p:spPr>
          <a:xfrm>
            <a:off x="1243584" y="5221224"/>
            <a:ext cx="530352" cy="530352"/>
          </a:xfrm>
          <a:prstGeom prst="ellipse">
            <a:avLst/>
          </a:prstGeom>
          <a:solidFill>
            <a:srgbClr val="2F6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ube 34"/>
          <p:cNvSpPr/>
          <p:nvPr/>
        </p:nvSpPr>
        <p:spPr>
          <a:xfrm>
            <a:off x="1376172" y="5353812"/>
            <a:ext cx="265176" cy="265176"/>
          </a:xfrm>
          <a:prstGeom prst="cub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11680" y="5285232"/>
            <a:ext cx="173736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B2E59"/>
                </a:solidFill>
                <a:latin typeface="Calibri"/>
              </a:rPr>
              <a:t>2:45 – 5:00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86200" y="5285232"/>
            <a:ext cx="777240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A202C"/>
                </a:solidFill>
                <a:latin typeface="Calibri"/>
              </a:rPr>
              <a:t>Multi-Instrument Mode Fundamentals</a:t>
            </a:r>
            <a:r>
              <a:rPr sz="1200" b="0">
                <a:solidFill>
                  <a:srgbClr val="5A6B7B"/>
                </a:solidFill>
                <a:latin typeface="Calibri"/>
              </a:rPr>
              <a:t>    routing, demo, Exercise 2.3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24712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Day 1 Recap — What You've Mastered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Day 2: Foundations — Part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5-Day SDI Lab Automation FDP  • 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6579108"/>
            <a:ext cx="3840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Powered by Moku:Go — Liquid Instruments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371600"/>
            <a:ext cx="5464911" cy="183794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371600"/>
            <a:ext cx="5464911" cy="45720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Oscilloscope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1920240"/>
            <a:ext cx="5245455" cy="119786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02C"/>
                </a:solidFill>
                <a:latin typeface="Calibri"/>
              </a:rPr>
              <a:t>Frame capture, CSV logging,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02C"/>
                </a:solidFill>
                <a:latin typeface="Calibri"/>
              </a:rPr>
              <a:t>Vpp statistics, summary plots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3863" y="1371600"/>
            <a:ext cx="5464911" cy="183794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3863" y="1371600"/>
            <a:ext cx="5464911" cy="457200"/>
          </a:xfrm>
          <a:prstGeom prst="rect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Waveform Generator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3591" y="1920240"/>
            <a:ext cx="5245455" cy="119786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02C"/>
                </a:solidFill>
                <a:latin typeface="Calibri"/>
              </a:rPr>
              <a:t>Parametric testing,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02C"/>
                </a:solidFill>
                <a:latin typeface="Calibri"/>
              </a:rPr>
              <a:t>frequency sweeps, duty/symmetry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465576"/>
            <a:ext cx="5464911" cy="183794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465576"/>
            <a:ext cx="5464911" cy="45720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Automation Loops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4014216"/>
            <a:ext cx="5245455" cy="119786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02C"/>
                </a:solidFill>
                <a:latin typeface="Calibri"/>
              </a:rPr>
              <a:t>21-test sequences, progress logs,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02C"/>
                </a:solidFill>
                <a:latin typeface="Calibri"/>
              </a:rPr>
              <a:t>efficiency measurement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23863" y="3465576"/>
            <a:ext cx="5464911" cy="183794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23863" y="3465576"/>
            <a:ext cx="5464911" cy="4572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The Pattern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3591" y="4014216"/>
            <a:ext cx="5245455" cy="119786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02C"/>
                </a:solidFill>
                <a:latin typeface="Calibri"/>
              </a:rPr>
              <a:t>Connect → Configure →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02C"/>
                </a:solidFill>
                <a:latin typeface="Calibri"/>
              </a:rPr>
              <a:t>Acquire → Cleanup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02C"/>
                </a:solidFill>
                <a:latin typeface="Calibri"/>
              </a:rPr>
              <a:t>try/finally every 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577840"/>
            <a:ext cx="1115568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6B35"/>
                </a:solidFill>
                <a:latin typeface="Calibri"/>
              </a:rPr>
              <a:t>Pop quiz: </a:t>
            </a:r>
            <a:r>
              <a:rPr sz="1500" b="0">
                <a:solidFill>
                  <a:srgbClr val="1A202C"/>
                </a:solidFill>
                <a:latin typeface="Calibri"/>
              </a:rPr>
              <a:t>What does get_data() return?  Why relinquish_ownership()?  What happens without force_connect?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24712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Arbitrary Waveform Generator — Live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Day 2: Foundations — Part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5-Day SDI Lab Automation FDP  • 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6579108"/>
            <a:ext cx="3840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Powered by Moku:Go — Liquid Instruments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280160"/>
            <a:ext cx="7040880" cy="4754880"/>
          </a:xfrm>
          <a:prstGeom prst="rect">
            <a:avLst/>
          </a:prstGeom>
          <a:solidFill>
            <a:srgbClr val="1E1E1E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CDCFE"/>
                </a:solidFill>
                <a:latin typeface="Consolas"/>
              </a:rPr>
              <a:t>day2/ex2_1_awg_custom_waveforms.py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from moku.instruments import ArbitraryWaveformGenerator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import numpy as np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awg = ArbitraryWaveformGenerator(MOKU_IP,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                             force_connect=True)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try: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6A9955"/>
                </a:solidFill>
                <a:latin typeface="Consolas"/>
              </a:rPr>
              <a:t>    # define ANY waveform mathematically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t = np.linspace(0, 1, 256, endpoint=False)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saw = 2*t - 1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stairs = np.floor(t*8)/4 - 1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for wf in (saw, stairs):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    wf = wf / max(abs(wf))      # normalize [-1, 1]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    awg.generate_waveform(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        channel=1,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        sample_rate='Auto',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        lut_data=list(wf),      # LIST, not ndarray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        frequency=1e3,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        amplitude=1.0)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    time.sleep(2)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finally: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awg.relinquish_ownership()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108192"/>
            <a:ext cx="70408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Custom waveform library: sine, sawtooth, triangle, staircase, half-rectified sine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1261872"/>
            <a:ext cx="384048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B2E59"/>
                </a:solidFill>
                <a:latin typeface="Calibri"/>
              </a:rPr>
              <a:t>Key Concepts</a:t>
            </a:r>
          </a:p>
        </p:txBody>
      </p:sp>
      <p:sp>
        <p:nvSpPr>
          <p:cNvPr id="12" name="Oval 11"/>
          <p:cNvSpPr/>
          <p:nvPr/>
        </p:nvSpPr>
        <p:spPr>
          <a:xfrm>
            <a:off x="7872983" y="1773936"/>
            <a:ext cx="310896" cy="310896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ightning Bolt 12"/>
          <p:cNvSpPr/>
          <p:nvPr/>
        </p:nvSpPr>
        <p:spPr>
          <a:xfrm>
            <a:off x="7950707" y="1851660"/>
            <a:ext cx="155448" cy="155448"/>
          </a:xfrm>
          <a:prstGeom prst="lightningBol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764792"/>
            <a:ext cx="3383280" cy="12801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1A202C"/>
                </a:solidFill>
                <a:latin typeface="Calibri"/>
              </a:rPr>
              <a:t>lut_data rules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plain Python list — list(arr)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normalized to [-1, 1]</a:t>
            </a:r>
          </a:p>
        </p:txBody>
      </p:sp>
      <p:sp>
        <p:nvSpPr>
          <p:cNvPr id="15" name="Oval 14"/>
          <p:cNvSpPr/>
          <p:nvPr/>
        </p:nvSpPr>
        <p:spPr>
          <a:xfrm>
            <a:off x="7872983" y="2743199"/>
            <a:ext cx="310896" cy="310896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Lightning Bolt 15"/>
          <p:cNvSpPr/>
          <p:nvPr/>
        </p:nvSpPr>
        <p:spPr>
          <a:xfrm>
            <a:off x="7950707" y="2820923"/>
            <a:ext cx="155448" cy="155448"/>
          </a:xfrm>
          <a:prstGeom prst="lightningBol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734055"/>
            <a:ext cx="3383280" cy="12801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1A202C"/>
                </a:solidFill>
                <a:latin typeface="Calibri"/>
              </a:rPr>
              <a:t>#1 mistake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passing a numpy array directly —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always wrap with list()</a:t>
            </a:r>
          </a:p>
        </p:txBody>
      </p:sp>
      <p:sp>
        <p:nvSpPr>
          <p:cNvPr id="18" name="Oval 17"/>
          <p:cNvSpPr/>
          <p:nvPr/>
        </p:nvSpPr>
        <p:spPr>
          <a:xfrm>
            <a:off x="7872983" y="3712462"/>
            <a:ext cx="310896" cy="310896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ightning Bolt 18"/>
          <p:cNvSpPr/>
          <p:nvPr/>
        </p:nvSpPr>
        <p:spPr>
          <a:xfrm>
            <a:off x="7950707" y="3790186"/>
            <a:ext cx="155448" cy="155448"/>
          </a:xfrm>
          <a:prstGeom prst="lightningBol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3703318"/>
            <a:ext cx="3383280" cy="12801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1A202C"/>
                </a:solidFill>
                <a:latin typeface="Calibri"/>
              </a:rPr>
              <a:t>Why AWG?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sensor simulation, distortion,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anything math can define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24712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Exercise 2.1: Custom Waveform Library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Day 2: Foundations — Part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5-Day SDI Lab Automation FDP  • 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6579108"/>
            <a:ext cx="3840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Powered by Moku:Go — Liquid Instruments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234440"/>
            <a:ext cx="11183112" cy="566928"/>
          </a:xfrm>
          <a:prstGeom prst="rect">
            <a:avLst/>
          </a:prstGeom>
          <a:solidFill>
            <a:srgbClr val="E3E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2E59"/>
                </a:solidFill>
                <a:latin typeface="Calibri"/>
              </a:rPr>
              <a:t>Objective:  </a:t>
            </a:r>
            <a:r>
              <a:rPr sz="1400" b="0">
                <a:solidFill>
                  <a:srgbClr val="1A202C"/>
                </a:solidFill>
                <a:latin typeface="Calibri"/>
              </a:rPr>
              <a:t>Create 5 custom waveforms with numpy, build a reusable JSON library, output each on the AWG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57400"/>
            <a:ext cx="512064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B2E59"/>
                </a:solidFill>
                <a:latin typeface="Calibri"/>
              </a:rPr>
              <a:t>Requirements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2592324"/>
            <a:ext cx="246888" cy="24688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578608"/>
            <a:ext cx="4828032" cy="6217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Build: sine, sawtooth, triangle,</a:t>
            </a:r>
          </a:p>
        </p:txBody>
      </p:sp>
      <p:sp>
        <p:nvSpPr>
          <p:cNvPr id="13" name="Oval 12"/>
          <p:cNvSpPr/>
          <p:nvPr/>
        </p:nvSpPr>
        <p:spPr>
          <a:xfrm>
            <a:off x="603504" y="3031236"/>
            <a:ext cx="246888" cy="24688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3017520"/>
            <a:ext cx="4828032" cy="6217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staircase, half-rectified sine (256 pts)</a:t>
            </a:r>
          </a:p>
        </p:txBody>
      </p:sp>
      <p:sp>
        <p:nvSpPr>
          <p:cNvPr id="15" name="Oval 14"/>
          <p:cNvSpPr/>
          <p:nvPr/>
        </p:nvSpPr>
        <p:spPr>
          <a:xfrm>
            <a:off x="603504" y="3470148"/>
            <a:ext cx="246888" cy="24688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3456432"/>
            <a:ext cx="4828032" cy="6217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Normalize every waveform to [-1, 1]</a:t>
            </a:r>
          </a:p>
        </p:txBody>
      </p:sp>
      <p:sp>
        <p:nvSpPr>
          <p:cNvPr id="17" name="Oval 16"/>
          <p:cNvSpPr/>
          <p:nvPr/>
        </p:nvSpPr>
        <p:spPr>
          <a:xfrm>
            <a:off x="603504" y="3909060"/>
            <a:ext cx="246888" cy="24688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3895344"/>
            <a:ext cx="4828032" cy="6217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Preview plot BEFORE hardware output</a:t>
            </a:r>
          </a:p>
        </p:txBody>
      </p:sp>
      <p:sp>
        <p:nvSpPr>
          <p:cNvPr id="19" name="Oval 18"/>
          <p:cNvSpPr/>
          <p:nvPr/>
        </p:nvSpPr>
        <p:spPr>
          <a:xfrm>
            <a:off x="603504" y="4347972"/>
            <a:ext cx="246888" cy="24688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4334256"/>
            <a:ext cx="4828032" cy="6217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Save library to waveform_library.json</a:t>
            </a:r>
          </a:p>
        </p:txBody>
      </p:sp>
      <p:sp>
        <p:nvSpPr>
          <p:cNvPr id="21" name="Oval 20"/>
          <p:cNvSpPr/>
          <p:nvPr/>
        </p:nvSpPr>
        <p:spPr>
          <a:xfrm>
            <a:off x="603504" y="4786884"/>
            <a:ext cx="246888" cy="24688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4773168"/>
            <a:ext cx="4828032" cy="6217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Output each at 1 kHz / 1 Vpp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057400"/>
            <a:ext cx="548640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B2E59"/>
                </a:solidFill>
                <a:latin typeface="Calibri"/>
              </a:rPr>
              <a:t>Expected Output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9632" y="2606040"/>
            <a:ext cx="5486400" cy="2286000"/>
          </a:xfrm>
          <a:prstGeom prst="rect">
            <a:avLst/>
          </a:prstGeom>
          <a:solidFill>
            <a:srgbClr val="1E1E1E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A9955"/>
                </a:solidFill>
                <a:latin typeface="Consolas"/>
              </a:rPr>
              <a:t>Preview saved: waveform_library.png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A9955"/>
                </a:solidFill>
                <a:latin typeface="Consolas"/>
              </a:rPr>
              <a:t>Library saved: waveform_library.json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CE9178"/>
                </a:solidFill>
                <a:latin typeface="Consolas"/>
              </a:rPr>
              <a:t>Generating: sine            @ 1 kHz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CE9178"/>
                </a:solidFill>
                <a:latin typeface="Consolas"/>
              </a:rPr>
              <a:t>Generating: sawtooth        @ 1 kHz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CE9178"/>
                </a:solidFill>
                <a:latin typeface="Consolas"/>
              </a:rPr>
              <a:t>Generating: staircase       @ 1 kHz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CE9178"/>
                </a:solidFill>
                <a:latin typeface="Consolas"/>
              </a:rPr>
              <a:t>All 5 waveforms output successfully.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99632" y="5074920"/>
            <a:ext cx="5486400" cy="502920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Duration: 30 minutes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5897880"/>
            <a:ext cx="1106424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6B35"/>
                </a:solidFill>
                <a:latin typeface="Calibri"/>
              </a:rPr>
              <a:t>Bonus Challenge:  </a:t>
            </a:r>
            <a:r>
              <a:rPr sz="1300" b="0">
                <a:solidFill>
                  <a:srgbClr val="1A202C"/>
                </a:solidFill>
                <a:latin typeface="Calibri"/>
              </a:rPr>
              <a:t>Add a Gaussian pulse and a chirp; reload the JSON and replay 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5486400"/>
            <a:ext cx="539496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B2E59"/>
                </a:solidFill>
                <a:latin typeface="Calibri"/>
              </a:rPr>
              <a:t>Script:  </a:t>
            </a:r>
            <a:r>
              <a:rPr sz="1200" b="0">
                <a:solidFill>
                  <a:srgbClr val="5A6B7B"/>
                </a:solidFill>
                <a:latin typeface="Calibri"/>
              </a:rPr>
              <a:t>day2/ex2_1_awg_custom_waveforms.py  •  compare with expected_outputs/ex2_1_expected.png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24712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Logic Analyzer — Hardware-Verified 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Day 2: Foundations — Part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5-Day SDI Lab Automation FDP  • 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6579108"/>
            <a:ext cx="3840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Powered by Moku:Go — Liquid Instruments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280160"/>
            <a:ext cx="7040880" cy="4754880"/>
          </a:xfrm>
          <a:prstGeom prst="rect">
            <a:avLst/>
          </a:prstGeom>
          <a:solidFill>
            <a:srgbClr val="1E1E1E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CDCFE"/>
                </a:solidFill>
                <a:latin typeface="Consolas"/>
              </a:rPr>
              <a:t>day2/ex2_2_logic_analyzer_spi.py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from moku.instruments import LogicAnalyzer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la = LogicAnalyzer(MOKU_IP, force_connect=True)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try: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clock = [1, 0] * 50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mosi  = [1,0,1,1,0,0,1,0] * 12 + [0]*4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6A9955"/>
                </a:solidFill>
                <a:latin typeface="Consolas"/>
              </a:rPr>
              <a:t>    # ALL pins in ONE call to PG channel 1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la.set_pattern_generator(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    channel=1,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    patterns=[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        {"pin": 1, "pattern": clock[:100]},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        {"pin": 4, "pattern": mosi[:100]},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    ],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    divider=5)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6A9955"/>
                </a:solidFill>
                <a:latin typeface="Consolas"/>
              </a:rPr>
              <a:t>    # pin mode is 'PG1' — NOT 'Pattern'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la.set_pin_mode(1, 'PG1')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la.set_pin_mode(4, 'PG1')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data = la.get_data(include_pins=[1, 4])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finally: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la.relinquish_ownership()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108192"/>
            <a:ext cx="70408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Hardware-verified March 2026 on moku v4.1.2 / MokuOS 4.1.2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1261872"/>
            <a:ext cx="384048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B2E59"/>
                </a:solidFill>
                <a:latin typeface="Calibri"/>
              </a:rPr>
              <a:t>Key Concepts</a:t>
            </a:r>
          </a:p>
        </p:txBody>
      </p:sp>
      <p:sp>
        <p:nvSpPr>
          <p:cNvPr id="12" name="Oval 11"/>
          <p:cNvSpPr/>
          <p:nvPr/>
        </p:nvSpPr>
        <p:spPr>
          <a:xfrm>
            <a:off x="7872983" y="1773936"/>
            <a:ext cx="310896" cy="310896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ightning Bolt 12"/>
          <p:cNvSpPr/>
          <p:nvPr/>
        </p:nvSpPr>
        <p:spPr>
          <a:xfrm>
            <a:off x="7950707" y="1851660"/>
            <a:ext cx="155448" cy="155448"/>
          </a:xfrm>
          <a:prstGeom prst="lightningBol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764792"/>
            <a:ext cx="3383280" cy="12801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1A202C"/>
                </a:solidFill>
                <a:latin typeface="Calibri"/>
              </a:rPr>
              <a:t>Verified fixes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channel=1 is the PG channel,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NOT a pin number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patterns = list of dicts</a:t>
            </a:r>
          </a:p>
        </p:txBody>
      </p:sp>
      <p:sp>
        <p:nvSpPr>
          <p:cNvPr id="15" name="Oval 14"/>
          <p:cNvSpPr/>
          <p:nvPr/>
        </p:nvSpPr>
        <p:spPr>
          <a:xfrm>
            <a:off x="7872983" y="2962655"/>
            <a:ext cx="310896" cy="310896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Lightning Bolt 15"/>
          <p:cNvSpPr/>
          <p:nvPr/>
        </p:nvSpPr>
        <p:spPr>
          <a:xfrm>
            <a:off x="7950707" y="3040379"/>
            <a:ext cx="155448" cy="155448"/>
          </a:xfrm>
          <a:prstGeom prst="lightningBol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953511"/>
            <a:ext cx="3383280" cy="12801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1A202C"/>
                </a:solidFill>
                <a:latin typeface="Calibri"/>
              </a:rPr>
              <a:t>Pin mode is 'PG1'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never 'Pattern' — that is the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old, broken API</a:t>
            </a:r>
          </a:p>
        </p:txBody>
      </p:sp>
      <p:sp>
        <p:nvSpPr>
          <p:cNvPr id="18" name="Oval 17"/>
          <p:cNvSpPr/>
          <p:nvPr/>
        </p:nvSpPr>
        <p:spPr>
          <a:xfrm>
            <a:off x="7872983" y="3931918"/>
            <a:ext cx="310896" cy="310896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ightning Bolt 18"/>
          <p:cNvSpPr/>
          <p:nvPr/>
        </p:nvSpPr>
        <p:spPr>
          <a:xfrm>
            <a:off x="7950707" y="4009642"/>
            <a:ext cx="155448" cy="155448"/>
          </a:xfrm>
          <a:prstGeom prst="lightningBol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3922774"/>
            <a:ext cx="3383280" cy="12801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1A202C"/>
                </a:solidFill>
                <a:latin typeface="Calibri"/>
              </a:rPr>
              <a:t>Use it for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SPI / I2C / UART teaching,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protocol timing diagrams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24712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Exercise 2.2: SPI Bus Pattern Generation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Day 2: Foundations — Part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5-Day SDI Lab Automation FDP  • 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6579108"/>
            <a:ext cx="3840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Powered by Moku:Go — Liquid Instruments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234440"/>
            <a:ext cx="11183112" cy="566928"/>
          </a:xfrm>
          <a:prstGeom prst="rect">
            <a:avLst/>
          </a:prstGeom>
          <a:solidFill>
            <a:srgbClr val="E3E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2E59"/>
                </a:solidFill>
                <a:latin typeface="Calibri"/>
              </a:rPr>
              <a:t>Objective:  </a:t>
            </a:r>
            <a:r>
              <a:rPr sz="1400" b="0">
                <a:solidFill>
                  <a:srgbClr val="1A202C"/>
                </a:solidFill>
                <a:latin typeface="Calibri"/>
              </a:rPr>
              <a:t>Generate a 4-pin SPI-like bus with the pattern generator and capture it 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57400"/>
            <a:ext cx="512064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B2E59"/>
                </a:solidFill>
                <a:latin typeface="Calibri"/>
              </a:rPr>
              <a:t>Requirements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2592324"/>
            <a:ext cx="246888" cy="24688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578608"/>
            <a:ext cx="4828032" cy="6217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Pin 1: CLK — square wave</a:t>
            </a:r>
          </a:p>
        </p:txBody>
      </p:sp>
      <p:sp>
        <p:nvSpPr>
          <p:cNvPr id="13" name="Oval 12"/>
          <p:cNvSpPr/>
          <p:nvPr/>
        </p:nvSpPr>
        <p:spPr>
          <a:xfrm>
            <a:off x="603504" y="3031236"/>
            <a:ext cx="246888" cy="24688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3017520"/>
            <a:ext cx="4828032" cy="6217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Pin 2: DATA — byte pattern</a:t>
            </a:r>
          </a:p>
        </p:txBody>
      </p:sp>
      <p:sp>
        <p:nvSpPr>
          <p:cNvPr id="15" name="Oval 14"/>
          <p:cNvSpPr/>
          <p:nvPr/>
        </p:nvSpPr>
        <p:spPr>
          <a:xfrm>
            <a:off x="603504" y="3470148"/>
            <a:ext cx="246888" cy="24688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3456432"/>
            <a:ext cx="4828032" cy="6217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Pin 3: CS — frame select</a:t>
            </a:r>
          </a:p>
        </p:txBody>
      </p:sp>
      <p:sp>
        <p:nvSpPr>
          <p:cNvPr id="17" name="Oval 16"/>
          <p:cNvSpPr/>
          <p:nvPr/>
        </p:nvSpPr>
        <p:spPr>
          <a:xfrm>
            <a:off x="603504" y="3909060"/>
            <a:ext cx="246888" cy="24688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3895344"/>
            <a:ext cx="4828032" cy="6217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Pin 4: MOSI — data out</a:t>
            </a:r>
          </a:p>
        </p:txBody>
      </p:sp>
      <p:sp>
        <p:nvSpPr>
          <p:cNvPr id="19" name="Oval 18"/>
          <p:cNvSpPr/>
          <p:nvPr/>
        </p:nvSpPr>
        <p:spPr>
          <a:xfrm>
            <a:off x="603504" y="4347972"/>
            <a:ext cx="246888" cy="24688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4334256"/>
            <a:ext cx="4828032" cy="6217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ONE set_pattern_generator call, 4 pins</a:t>
            </a:r>
          </a:p>
        </p:txBody>
      </p:sp>
      <p:sp>
        <p:nvSpPr>
          <p:cNvPr id="21" name="Oval 20"/>
          <p:cNvSpPr/>
          <p:nvPr/>
        </p:nvSpPr>
        <p:spPr>
          <a:xfrm>
            <a:off x="603504" y="4786884"/>
            <a:ext cx="246888" cy="24688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4773168"/>
            <a:ext cx="4828032" cy="6217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Capture with get_data(include_pins=[1,2,3,4])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057400"/>
            <a:ext cx="548640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B2E59"/>
                </a:solidFill>
                <a:latin typeface="Calibri"/>
              </a:rPr>
              <a:t>Expected Output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9632" y="2606040"/>
            <a:ext cx="5486400" cy="2286000"/>
          </a:xfrm>
          <a:prstGeom prst="rect">
            <a:avLst/>
          </a:prstGeom>
          <a:solidFill>
            <a:srgbClr val="1E1E1E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CE9178"/>
                </a:solidFill>
                <a:latin typeface="Consolas"/>
              </a:rPr>
              <a:t>Pin 1 (CLK):  100 samples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CE9178"/>
                </a:solidFill>
                <a:latin typeface="Consolas"/>
              </a:rPr>
              <a:t>Pin 2 (DATA): 100 samples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CE9178"/>
                </a:solidFill>
                <a:latin typeface="Consolas"/>
              </a:rPr>
              <a:t>Pin 3 (CS):   100 samples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CE9178"/>
                </a:solidFill>
                <a:latin typeface="Consolas"/>
              </a:rPr>
              <a:t>Pin 4 (MOSI): 100 samples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A9955"/>
                </a:solidFill>
                <a:latin typeface="Consolas"/>
              </a:rPr>
              <a:t>Captured data from 4 pins.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A9955"/>
                </a:solidFill>
                <a:latin typeface="Consolas"/>
              </a:rPr>
              <a:t>Plot saved: spi_signals.png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99632" y="5074920"/>
            <a:ext cx="5486400" cy="502920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Duration: 30 minutes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5897880"/>
            <a:ext cx="1106424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6B35"/>
                </a:solidFill>
                <a:latin typeface="Calibri"/>
              </a:rPr>
              <a:t>Bonus Challenge:  </a:t>
            </a:r>
            <a:r>
              <a:rPr sz="1300" b="0">
                <a:solidFill>
                  <a:srgbClr val="1A202C"/>
                </a:solidFill>
                <a:latin typeface="Calibri"/>
              </a:rPr>
              <a:t>Re-create a UART frame: start bit + 8 data bits + stop bit; add even parity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5486400"/>
            <a:ext cx="539496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B2E59"/>
                </a:solidFill>
                <a:latin typeface="Calibri"/>
              </a:rPr>
              <a:t>Script:  </a:t>
            </a:r>
            <a:r>
              <a:rPr sz="1200" b="0">
                <a:solidFill>
                  <a:srgbClr val="5A6B7B"/>
                </a:solidFill>
                <a:latin typeface="Calibri"/>
              </a:rPr>
              <a:t>day2/ex2_2_logic_analyzer_spi.py  •  compare with expected_outputs/ex2_2_expected.png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24712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Day 1 Capstone — Automated Frequency Response Tester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76656"/>
            <a:ext cx="111556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CADCFC"/>
                </a:solidFill>
                <a:latin typeface="Calibri"/>
              </a:rPr>
              <a:t>Team project • 105 minutes • the bridge to Multi-Instrument Mode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Day 2: Foundations — Part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5-Day SDI Lab Automation FDP  •  v2.0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6579108"/>
            <a:ext cx="3840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Powered by Moku:Go — Liquid Instruments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71600"/>
            <a:ext cx="2508427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73669" y="1545336"/>
            <a:ext cx="566928" cy="566928"/>
          </a:xfrm>
          <a:prstGeom prst="ellipse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Wave 11"/>
          <p:cNvSpPr/>
          <p:nvPr/>
        </p:nvSpPr>
        <p:spPr>
          <a:xfrm>
            <a:off x="1615401" y="1687068"/>
            <a:ext cx="283464" cy="283464"/>
          </a:xfrm>
          <a:prstGeom prst="wav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" y="2212848"/>
            <a:ext cx="2398699" cy="978407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100"/>
              </a:spcAft>
            </a:pPr>
            <a:r>
              <a:rPr sz="1350" b="1">
                <a:solidFill>
                  <a:srgbClr val="0B2E59"/>
                </a:solidFill>
                <a:latin typeface="Calibri"/>
              </a:rPr>
              <a:t>Waveform Generator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sine sweep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20+ points, log-spaced</a:t>
            </a:r>
          </a:p>
        </p:txBody>
      </p:sp>
      <p:sp>
        <p:nvSpPr>
          <p:cNvPr id="14" name="Oval 13"/>
          <p:cNvSpPr/>
          <p:nvPr/>
        </p:nvSpPr>
        <p:spPr>
          <a:xfrm>
            <a:off x="566928" y="1435608"/>
            <a:ext cx="347472" cy="347472"/>
          </a:xfrm>
          <a:prstGeom prst="ellipse">
            <a:avLst/>
          </a:prstGeom>
          <a:solidFill>
            <a:srgbClr val="FF6B35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047923" y="2208275"/>
            <a:ext cx="310896" cy="201168"/>
          </a:xfrm>
          <a:prstGeom prst="rightArrow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95395" y="1371600"/>
            <a:ext cx="2508427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366145" y="1545336"/>
            <a:ext cx="566928" cy="566928"/>
          </a:xfrm>
          <a:prstGeom prst="ellipse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Gear 6 17"/>
          <p:cNvSpPr/>
          <p:nvPr/>
        </p:nvSpPr>
        <p:spPr>
          <a:xfrm>
            <a:off x="4507877" y="1687068"/>
            <a:ext cx="283464" cy="283464"/>
          </a:xfrm>
          <a:prstGeom prst="gear6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50259" y="2212848"/>
            <a:ext cx="2398699" cy="978407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100"/>
              </a:spcAft>
            </a:pPr>
            <a:r>
              <a:rPr sz="1350" b="1">
                <a:solidFill>
                  <a:srgbClr val="0057B8"/>
                </a:solidFill>
                <a:latin typeface="Calibri"/>
              </a:rPr>
              <a:t>Loopback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Output 1 → Input 1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(later: a real DUT)</a:t>
            </a:r>
          </a:p>
        </p:txBody>
      </p:sp>
      <p:sp>
        <p:nvSpPr>
          <p:cNvPr id="20" name="Oval 19"/>
          <p:cNvSpPr/>
          <p:nvPr/>
        </p:nvSpPr>
        <p:spPr>
          <a:xfrm>
            <a:off x="3459403" y="1435608"/>
            <a:ext cx="347472" cy="347472"/>
          </a:xfrm>
          <a:prstGeom prst="ellipse">
            <a:avLst/>
          </a:prstGeom>
          <a:solidFill>
            <a:srgbClr val="FF6B35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940399" y="2208275"/>
            <a:ext cx="310896" cy="201168"/>
          </a:xfrm>
          <a:prstGeom prst="rightArrow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7871" y="1371600"/>
            <a:ext cx="2508427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258621" y="1545336"/>
            <a:ext cx="566928" cy="56692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Lightning Bolt 23"/>
          <p:cNvSpPr/>
          <p:nvPr/>
        </p:nvSpPr>
        <p:spPr>
          <a:xfrm>
            <a:off x="7400353" y="1687068"/>
            <a:ext cx="283464" cy="283464"/>
          </a:xfrm>
          <a:prstGeom prst="lightningBol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42735" y="2212848"/>
            <a:ext cx="2398699" cy="978407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100"/>
              </a:spcAft>
            </a:pPr>
            <a:r>
              <a:rPr sz="1350" b="1">
                <a:solidFill>
                  <a:srgbClr val="028090"/>
                </a:solidFill>
                <a:latin typeface="Calibri"/>
              </a:rPr>
              <a:t>Oscilloscope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capture at each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frequency</a:t>
            </a:r>
          </a:p>
        </p:txBody>
      </p:sp>
      <p:sp>
        <p:nvSpPr>
          <p:cNvPr id="26" name="Oval 25"/>
          <p:cNvSpPr/>
          <p:nvPr/>
        </p:nvSpPr>
        <p:spPr>
          <a:xfrm>
            <a:off x="6351879" y="1435608"/>
            <a:ext cx="347472" cy="347472"/>
          </a:xfrm>
          <a:prstGeom prst="ellipse">
            <a:avLst/>
          </a:prstGeom>
          <a:solidFill>
            <a:srgbClr val="FF6B35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832875" y="2208275"/>
            <a:ext cx="310896" cy="201168"/>
          </a:xfrm>
          <a:prstGeom prst="rightArrow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80347" y="1371600"/>
            <a:ext cx="2508427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51097" y="1545336"/>
            <a:ext cx="566928" cy="566928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an 29"/>
          <p:cNvSpPr/>
          <p:nvPr/>
        </p:nvSpPr>
        <p:spPr>
          <a:xfrm>
            <a:off x="10292829" y="1687068"/>
            <a:ext cx="283464" cy="283464"/>
          </a:xfrm>
          <a:prstGeom prst="ca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5211" y="2212848"/>
            <a:ext cx="2398699" cy="978407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100"/>
              </a:spcAft>
            </a:pPr>
            <a:r>
              <a:rPr sz="1350" b="1">
                <a:solidFill>
                  <a:srgbClr val="FF6B35"/>
                </a:solidFill>
                <a:latin typeface="Calibri"/>
              </a:rPr>
              <a:t>Analysis &amp; Report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gain in dB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Bode plot + CSV</a:t>
            </a:r>
          </a:p>
        </p:txBody>
      </p:sp>
      <p:sp>
        <p:nvSpPr>
          <p:cNvPr id="32" name="Oval 31"/>
          <p:cNvSpPr/>
          <p:nvPr/>
        </p:nvSpPr>
        <p:spPr>
          <a:xfrm>
            <a:off x="9244355" y="1435608"/>
            <a:ext cx="347472" cy="347472"/>
          </a:xfrm>
          <a:prstGeom prst="ellipse">
            <a:avLst/>
          </a:prstGeom>
          <a:solidFill>
            <a:srgbClr val="FF6B35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3520440"/>
            <a:ext cx="5464911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" y="3520440"/>
            <a:ext cx="5464911" cy="45720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Requirements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" y="4069080"/>
            <a:ext cx="5245455" cy="12801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100 Hz – 10 MHz, 20+ log points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Gain = 20·log10(Vout/Vin)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CSV + Bode plot + short report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23863" y="3520440"/>
            <a:ext cx="5464911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23863" y="3520440"/>
            <a:ext cx="5464911" cy="45720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Evaluation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33591" y="4069080"/>
            <a:ext cx="5245455" cy="12801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Functionality 40% • Code 20%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Documentation 20% • Results 20%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715000"/>
            <a:ext cx="1115568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6B35"/>
                </a:solidFill>
                <a:latin typeface="Calibri"/>
              </a:rPr>
              <a:t>Checkpoints: </a:t>
            </a:r>
            <a:r>
              <a:rPr sz="1400" b="0">
                <a:solidFill>
                  <a:srgbClr val="1A202C"/>
                </a:solidFill>
                <a:latin typeface="Calibri"/>
              </a:rPr>
              <a:t>15 min — plan documented  •  30 min — single measurement works  •  60 min — full loop runs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24712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Capstone Presentations — Your Turn!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76656"/>
            <a:ext cx="111556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CADCFC"/>
                </a:solidFill>
                <a:latin typeface="Calibri"/>
              </a:rPr>
              <a:t>5 minutes per team, strictly timed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Day 2: Foundations — Part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5-Day SDI Lab Automation FDP  •  v2.0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6579108"/>
            <a:ext cx="3840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Powered by Moku:Go — Liquid Instruments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63040"/>
            <a:ext cx="1929932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84422" y="1636776"/>
            <a:ext cx="566928" cy="566928"/>
          </a:xfrm>
          <a:prstGeom prst="ellipse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Wave 11"/>
          <p:cNvSpPr/>
          <p:nvPr/>
        </p:nvSpPr>
        <p:spPr>
          <a:xfrm>
            <a:off x="1326154" y="1778508"/>
            <a:ext cx="283464" cy="283464"/>
          </a:xfrm>
          <a:prstGeom prst="wav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" y="2304288"/>
            <a:ext cx="1820204" cy="8412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100"/>
              </a:spcAft>
            </a:pPr>
            <a:r>
              <a:rPr sz="1350" b="1">
                <a:solidFill>
                  <a:srgbClr val="0B2E59"/>
                </a:solidFill>
                <a:latin typeface="Calibri"/>
              </a:rPr>
              <a:t>0:30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Problem statement</a:t>
            </a:r>
          </a:p>
        </p:txBody>
      </p:sp>
      <p:sp>
        <p:nvSpPr>
          <p:cNvPr id="14" name="Oval 13"/>
          <p:cNvSpPr/>
          <p:nvPr/>
        </p:nvSpPr>
        <p:spPr>
          <a:xfrm>
            <a:off x="566928" y="1527048"/>
            <a:ext cx="347472" cy="347472"/>
          </a:xfrm>
          <a:prstGeom prst="ellipse">
            <a:avLst/>
          </a:prstGeom>
          <a:solidFill>
            <a:srgbClr val="FF6B35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469428" y="2231136"/>
            <a:ext cx="310896" cy="201168"/>
          </a:xfrm>
          <a:prstGeom prst="rightArrow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16900" y="1463040"/>
            <a:ext cx="1929932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498402" y="1636776"/>
            <a:ext cx="566928" cy="566928"/>
          </a:xfrm>
          <a:prstGeom prst="ellipse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Gear 6 17"/>
          <p:cNvSpPr/>
          <p:nvPr/>
        </p:nvSpPr>
        <p:spPr>
          <a:xfrm>
            <a:off x="3640134" y="1778508"/>
            <a:ext cx="283464" cy="283464"/>
          </a:xfrm>
          <a:prstGeom prst="gear6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71764" y="2304288"/>
            <a:ext cx="1820204" cy="8412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100"/>
              </a:spcAft>
            </a:pPr>
            <a:r>
              <a:rPr sz="1350" b="1">
                <a:solidFill>
                  <a:srgbClr val="0057B8"/>
                </a:solidFill>
                <a:latin typeface="Calibri"/>
              </a:rPr>
              <a:t>1:00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Approach &amp;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instruments</a:t>
            </a:r>
          </a:p>
        </p:txBody>
      </p:sp>
      <p:sp>
        <p:nvSpPr>
          <p:cNvPr id="20" name="Oval 19"/>
          <p:cNvSpPr/>
          <p:nvPr/>
        </p:nvSpPr>
        <p:spPr>
          <a:xfrm>
            <a:off x="2880908" y="1527048"/>
            <a:ext cx="347472" cy="347472"/>
          </a:xfrm>
          <a:prstGeom prst="ellipse">
            <a:avLst/>
          </a:prstGeom>
          <a:solidFill>
            <a:srgbClr val="FF6B35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783409" y="2231136"/>
            <a:ext cx="310896" cy="201168"/>
          </a:xfrm>
          <a:prstGeom prst="rightArrow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0881" y="1463040"/>
            <a:ext cx="1929932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2383" y="1636776"/>
            <a:ext cx="566928" cy="56692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Lightning Bolt 23"/>
          <p:cNvSpPr/>
          <p:nvPr/>
        </p:nvSpPr>
        <p:spPr>
          <a:xfrm>
            <a:off x="5954115" y="1778508"/>
            <a:ext cx="283464" cy="283464"/>
          </a:xfrm>
          <a:prstGeom prst="lightningBol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85745" y="2304288"/>
            <a:ext cx="1820204" cy="8412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100"/>
              </a:spcAft>
            </a:pPr>
            <a:r>
              <a:rPr sz="1350" b="1">
                <a:solidFill>
                  <a:srgbClr val="028090"/>
                </a:solidFill>
                <a:latin typeface="Calibri"/>
              </a:rPr>
              <a:t>2:00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LIVE DEMO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run the code</a:t>
            </a:r>
          </a:p>
        </p:txBody>
      </p:sp>
      <p:sp>
        <p:nvSpPr>
          <p:cNvPr id="26" name="Oval 25"/>
          <p:cNvSpPr/>
          <p:nvPr/>
        </p:nvSpPr>
        <p:spPr>
          <a:xfrm>
            <a:off x="5194889" y="1527048"/>
            <a:ext cx="347472" cy="347472"/>
          </a:xfrm>
          <a:prstGeom prst="ellipse">
            <a:avLst/>
          </a:prstGeom>
          <a:solidFill>
            <a:srgbClr val="FF6B35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097389" y="2231136"/>
            <a:ext cx="310896" cy="201168"/>
          </a:xfrm>
          <a:prstGeom prst="rightArrow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44861" y="1463040"/>
            <a:ext cx="1929932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126364" y="1636776"/>
            <a:ext cx="566928" cy="566928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an 29"/>
          <p:cNvSpPr/>
          <p:nvPr/>
        </p:nvSpPr>
        <p:spPr>
          <a:xfrm>
            <a:off x="8268096" y="1778508"/>
            <a:ext cx="283464" cy="283464"/>
          </a:xfrm>
          <a:prstGeom prst="ca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9725" y="2304288"/>
            <a:ext cx="1820204" cy="8412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100"/>
              </a:spcAft>
            </a:pPr>
            <a:r>
              <a:rPr sz="1350" b="1">
                <a:solidFill>
                  <a:srgbClr val="FF6B35"/>
                </a:solidFill>
                <a:latin typeface="Calibri"/>
              </a:rPr>
              <a:t>1:00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Challenges &amp;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solutions</a:t>
            </a:r>
          </a:p>
        </p:txBody>
      </p:sp>
      <p:sp>
        <p:nvSpPr>
          <p:cNvPr id="32" name="Oval 31"/>
          <p:cNvSpPr/>
          <p:nvPr/>
        </p:nvSpPr>
        <p:spPr>
          <a:xfrm>
            <a:off x="7508869" y="1527048"/>
            <a:ext cx="347472" cy="347472"/>
          </a:xfrm>
          <a:prstGeom prst="ellipse">
            <a:avLst/>
          </a:prstGeom>
          <a:solidFill>
            <a:srgbClr val="FF6B35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9411370" y="2231136"/>
            <a:ext cx="310896" cy="201168"/>
          </a:xfrm>
          <a:prstGeom prst="rightArrow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758842" y="1463040"/>
            <a:ext cx="1929932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440344" y="1636776"/>
            <a:ext cx="566928" cy="566928"/>
          </a:xfrm>
          <a:prstGeom prst="ellipse">
            <a:avLst/>
          </a:prstGeom>
          <a:solidFill>
            <a:srgbClr val="2F6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ube 35"/>
          <p:cNvSpPr/>
          <p:nvPr/>
        </p:nvSpPr>
        <p:spPr>
          <a:xfrm>
            <a:off x="10582076" y="1778508"/>
            <a:ext cx="283464" cy="283464"/>
          </a:xfrm>
          <a:prstGeom prst="cub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13706" y="2304288"/>
            <a:ext cx="1820204" cy="8412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100"/>
              </a:spcAft>
            </a:pPr>
            <a:r>
              <a:rPr sz="1350" b="1">
                <a:solidFill>
                  <a:srgbClr val="2F6B46"/>
                </a:solidFill>
                <a:latin typeface="Calibri"/>
              </a:rPr>
              <a:t>0:30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Q&amp;A</a:t>
            </a:r>
          </a:p>
        </p:txBody>
      </p:sp>
      <p:sp>
        <p:nvSpPr>
          <p:cNvPr id="38" name="Oval 37"/>
          <p:cNvSpPr/>
          <p:nvPr/>
        </p:nvSpPr>
        <p:spPr>
          <a:xfrm>
            <a:off x="9822850" y="1527048"/>
            <a:ext cx="347472" cy="347472"/>
          </a:xfrm>
          <a:prstGeom prst="ellipse">
            <a:avLst/>
          </a:prstGeom>
          <a:solidFill>
            <a:srgbClr val="FF6B35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9" name="Oval 38"/>
          <p:cNvSpPr/>
          <p:nvPr/>
        </p:nvSpPr>
        <p:spPr>
          <a:xfrm>
            <a:off x="566928" y="3643884"/>
            <a:ext cx="246888" cy="24688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0976" y="3630168"/>
            <a:ext cx="10588752" cy="60350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A202C"/>
                </a:solidFill>
                <a:latin typeface="Calibri"/>
              </a:rPr>
              <a:t>Live demo beats slides — show the script producing real data</a:t>
            </a:r>
          </a:p>
        </p:txBody>
      </p:sp>
      <p:sp>
        <p:nvSpPr>
          <p:cNvPr id="41" name="Oval 40"/>
          <p:cNvSpPr/>
          <p:nvPr/>
        </p:nvSpPr>
        <p:spPr>
          <a:xfrm>
            <a:off x="566928" y="4064508"/>
            <a:ext cx="246888" cy="24688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0976" y="4050792"/>
            <a:ext cx="10588752" cy="60350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A202C"/>
                </a:solidFill>
                <a:latin typeface="Calibri"/>
              </a:rPr>
              <a:t>Tell us the one bug that cost you the most time, and how you found it</a:t>
            </a:r>
          </a:p>
        </p:txBody>
      </p:sp>
      <p:sp>
        <p:nvSpPr>
          <p:cNvPr id="43" name="Oval 42"/>
          <p:cNvSpPr/>
          <p:nvPr/>
        </p:nvSpPr>
        <p:spPr>
          <a:xfrm>
            <a:off x="566928" y="4485132"/>
            <a:ext cx="246888" cy="24688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0976" y="4471416"/>
            <a:ext cx="10588752" cy="60350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A202C"/>
                </a:solidFill>
                <a:latin typeface="Calibri"/>
              </a:rPr>
              <a:t>Evaluation: Functionality 40% • Code 20% • Results 20% • Presentation 20%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24712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Multi-Instrument Mode (MiM)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76656"/>
            <a:ext cx="111556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CADCFC"/>
                </a:solidFill>
                <a:latin typeface="Calibri"/>
              </a:rPr>
              <a:t>The most powerful feature of the platform — two instruments, one device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Day 2: Foundations — Part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5-Day SDI Lab Automation FDP  •  v2.0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6579108"/>
            <a:ext cx="3840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Powered by Moku:Go — Liquid Instruments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25880"/>
            <a:ext cx="5464911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325880"/>
            <a:ext cx="5464911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Traditional: One at a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1874520"/>
            <a:ext cx="5245455" cy="1463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Only ONE instrument loaded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Switch manually, lose state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Slow for stimulus-response tests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3863" y="1325880"/>
            <a:ext cx="5464911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23863" y="1325880"/>
            <a:ext cx="5464911" cy="45720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MiM: Two at Once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3591" y="1874520"/>
            <a:ext cx="5245455" cy="1463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Slot 1 + Slot 2 run simultaneously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Internal digital routing — no cables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platform_id=2 on Moku:Go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657600"/>
            <a:ext cx="11183112" cy="2103120"/>
          </a:xfrm>
          <a:prstGeom prst="rect">
            <a:avLst/>
          </a:prstGeom>
          <a:solidFill>
            <a:srgbClr val="1E1E1E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17070"/>
                </a:solidFill>
                <a:latin typeface="Consolas"/>
              </a:rPr>
              <a:t># WRONG — plain dict: duplicate keys silently vanish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17070"/>
                </a:solidFill>
                <a:latin typeface="Consolas"/>
              </a:rPr>
              <a:t>m.set_connections(connections={'Slot1OutA': 'Slot2InA'})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CE9178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6A9955"/>
                </a:solidFill>
                <a:latin typeface="Consolas"/>
              </a:rPr>
              <a:t># RIGHT — LIST of DICTS (hardware-verified)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CE9178"/>
                </a:solidFill>
                <a:latin typeface="Consolas"/>
              </a:rPr>
              <a:t>m.set_connections(connections=[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CE9178"/>
                </a:solidFill>
                <a:latin typeface="Consolas"/>
              </a:rPr>
              <a:t>    dict(source='Slot1OutA', destination='Output1'),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CE9178"/>
                </a:solidFill>
                <a:latin typeface="Consolas"/>
              </a:rPr>
              <a:t>    dict(source='Input1',    destination='Slot2InA'),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CE9178"/>
                </a:solidFill>
                <a:latin typeface="Consolas"/>
              </a:rPr>
              <a:t>])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943600"/>
            <a:ext cx="1115568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FF6B35"/>
                </a:solidFill>
                <a:latin typeface="Calibri"/>
              </a:rPr>
              <a:t>Write it down: connections is a LIST of DICTS. This is the #1 MiM mistake.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24712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Routing Configurations — Signal Pathways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76656"/>
            <a:ext cx="111556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CADCFC"/>
                </a:solidFill>
                <a:latin typeface="Calibri"/>
              </a:rPr>
              <a:t>Moku:Go, platform_id=2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Day 2: Foundations — Part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5-Day SDI Lab Automation FDP  •  v2.0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6579108"/>
            <a:ext cx="3840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Powered by Moku:Go — Liquid Instruments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25880"/>
            <a:ext cx="5464911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325880"/>
            <a:ext cx="5464911" cy="457200"/>
          </a:xfrm>
          <a:prstGeom prst="rect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1874520"/>
            <a:ext cx="5245455" cy="12801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Input1, Input2  (physical inputs)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Slot1OutA, Slot1OutB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Slot2OutA, Slot2OutB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3863" y="1325880"/>
            <a:ext cx="5464911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23863" y="1325880"/>
            <a:ext cx="5464911" cy="45720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Destinations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3591" y="1874520"/>
            <a:ext cx="5245455" cy="12801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Output1, Output2  (physical outputs)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Slot1InA, Slot1InB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Slot2InA, Slot2InB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520440"/>
            <a:ext cx="355793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520440"/>
            <a:ext cx="3557930" cy="45720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Loopback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4069080"/>
            <a:ext cx="3338474" cy="1554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Slot1OutA → Slot2InA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scope sees WG directly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16882" y="3520440"/>
            <a:ext cx="355793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16882" y="3520440"/>
            <a:ext cx="3557930" cy="4572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DUT Testing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26610" y="4069080"/>
            <a:ext cx="3338474" cy="1554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Slot1OutA → Output1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Input1 → Slot2InA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signal passes through your DUT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0844" y="3520440"/>
            <a:ext cx="355793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0844" y="3520440"/>
            <a:ext cx="3557930" cy="457200"/>
          </a:xfrm>
          <a:prstGeom prst="rect">
            <a:avLst/>
          </a:prstGeom>
          <a:solidFill>
            <a:srgbClr val="2F6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Dual Compare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0572" y="4069080"/>
            <a:ext cx="3338474" cy="1554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Slot1OutA → Slot2InA (generated)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Input1 → Slot2InB (external)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24712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MiM — Critical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76656"/>
            <a:ext cx="111556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CADCFC"/>
                </a:solidFill>
                <a:latin typeface="Calibri"/>
              </a:rPr>
              <a:t>Hardware-verified — these are exam questions for the rest of the week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Day 2: Foundations — Part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5-Day SDI Lab Automation FDP  •  v2.0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6579108"/>
            <a:ext cx="3840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Powered by Moku:Go — Liquid Instruments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71600"/>
            <a:ext cx="5464911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371600"/>
            <a:ext cx="5464911" cy="45720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1920240"/>
            <a:ext cx="5245455" cy="35661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A202C"/>
                </a:solidFill>
                <a:latin typeface="Calibri"/>
              </a:rPr>
              <a:t>One MultiInstrument() connection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202C"/>
                </a:solidFill>
                <a:latin typeface="Calibri"/>
              </a:rPr>
              <a:t>platform_id=2 for Moku:Go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202C"/>
                </a:solidFill>
                <a:latin typeface="Calibri"/>
              </a:rPr>
              <a:t>connections = list of dicts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202C"/>
                </a:solidFill>
                <a:latin typeface="Calibri"/>
              </a:rPr>
              <a:t>m.relinquish_ownership() in finally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202C"/>
                </a:solidFill>
                <a:latin typeface="Calibri"/>
              </a:rPr>
              <a:t>settle ≥ 50 ms before capture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3863" y="1371600"/>
            <a:ext cx="5464911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23863" y="1371600"/>
            <a:ext cx="5464911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DON'T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3591" y="1920240"/>
            <a:ext cx="5245455" cy="35661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A202C"/>
                </a:solidFill>
                <a:latin typeface="Calibri"/>
              </a:rPr>
              <a:t>Open separate instrument connections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202C"/>
                </a:solidFill>
                <a:latin typeface="Calibri"/>
              </a:rPr>
              <a:t>Pass a plain dict to set_connections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202C"/>
                </a:solidFill>
                <a:latin typeface="Calibri"/>
              </a:rPr>
              <a:t>Use set_trigger source='Input1' in MiM —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202C"/>
                </a:solidFill>
                <a:latin typeface="Calibri"/>
              </a:rPr>
              <a:t>NOT valid; auto-trigger works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202C"/>
                </a:solidFill>
                <a:latin typeface="Calibri"/>
              </a:rPr>
              <a:t>Release wg/osc individually — crashes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589520" cy="777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Calibri"/>
              </a:rPr>
              <a:t>Day 2 Complete!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68580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28090"/>
                </a:solidFill>
                <a:latin typeface="Calibri"/>
              </a:rPr>
              <a:t>What You Achieved Today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01368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01D31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1801368"/>
            <a:ext cx="64008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FFFFFF"/>
                </a:solidFill>
                <a:latin typeface="Calibri"/>
              </a:rPr>
              <a:t>Controlled the AWG — custom waveforms from numpy (lut_data)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258568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01D31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2258568"/>
            <a:ext cx="64008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FFFFFF"/>
                </a:solidFill>
                <a:latin typeface="Calibri"/>
              </a:rPr>
              <a:t>Controlled the Logic Analyzer — verified pattern-generator API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2715768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01D31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2715768"/>
            <a:ext cx="64008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FFFFFF"/>
                </a:solidFill>
                <a:latin typeface="Calibri"/>
              </a:rPr>
              <a:t>Built and presented the Frequency Response Tester capstone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172968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01D31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3172968"/>
            <a:ext cx="64008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FFFFFF"/>
                </a:solidFill>
                <a:latin typeface="Calibri"/>
              </a:rPr>
              <a:t>Learned MiM: slots, routing, the list-of-dicts rule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630168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01D31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3630168"/>
            <a:ext cx="64008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FFFFFF"/>
                </a:solidFill>
                <a:latin typeface="Calibri"/>
              </a:rPr>
              <a:t>Know the 3 critical MiM rules by heart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1000" y="1234440"/>
            <a:ext cx="3703320" cy="2670048"/>
          </a:xfrm>
          <a:prstGeom prst="rect">
            <a:avLst/>
          </a:prstGeom>
          <a:solidFill>
            <a:srgbClr val="16325C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79" y="1371600"/>
            <a:ext cx="338328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6B35"/>
                </a:solidFill>
                <a:latin typeface="Calibri"/>
              </a:rPr>
              <a:t>Tomorrow — Day 3 Preview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874519"/>
            <a:ext cx="3383280" cy="3840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28090"/>
                </a:solidFill>
                <a:latin typeface="Calibri"/>
              </a:rPr>
              <a:t>▸  </a:t>
            </a:r>
            <a:r>
              <a:rPr sz="1250" b="0">
                <a:solidFill>
                  <a:srgbClr val="FFFFFF"/>
                </a:solidFill>
                <a:latin typeface="Calibri"/>
              </a:rPr>
              <a:t>MiM hands-on: AM modulation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295143"/>
            <a:ext cx="3383280" cy="3840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28090"/>
                </a:solidFill>
                <a:latin typeface="Calibri"/>
              </a:rPr>
              <a:t>▸  </a:t>
            </a:r>
            <a:r>
              <a:rPr sz="1250" b="0">
                <a:solidFill>
                  <a:srgbClr val="FFFFFF"/>
                </a:solidFill>
                <a:latin typeface="Calibri"/>
              </a:rPr>
              <a:t>Filter characterization (real RC)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715767"/>
            <a:ext cx="3383280" cy="3840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28090"/>
                </a:solidFill>
                <a:latin typeface="Calibri"/>
              </a:rPr>
              <a:t>▸  </a:t>
            </a:r>
            <a:r>
              <a:rPr sz="1250" b="0">
                <a:solidFill>
                  <a:srgbClr val="FFFFFF"/>
                </a:solidFill>
                <a:latin typeface="Calibri"/>
              </a:rPr>
              <a:t>Real-time Datalogger streaming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136391"/>
            <a:ext cx="3383280" cy="3840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28090"/>
                </a:solidFill>
                <a:latin typeface="Calibri"/>
              </a:rPr>
              <a:t>▸  </a:t>
            </a:r>
            <a:r>
              <a:rPr sz="1250" b="0">
                <a:solidFill>
                  <a:srgbClr val="FFFFFF"/>
                </a:solidFill>
                <a:latin typeface="Calibri"/>
              </a:rPr>
              <a:t>FFT, SNR &amp; THD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3557015"/>
            <a:ext cx="3383280" cy="3840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28090"/>
                </a:solidFill>
                <a:latin typeface="Calibri"/>
              </a:rPr>
              <a:t>▸  </a:t>
            </a:r>
            <a:r>
              <a:rPr sz="1250" b="0">
                <a:solidFill>
                  <a:srgbClr val="FFFFFF"/>
                </a:solidFill>
                <a:latin typeface="Calibri"/>
              </a:rPr>
              <a:t>Day 2 Capstone begins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590288"/>
            <a:ext cx="10927080" cy="1792224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681728"/>
            <a:ext cx="365760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Homework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102352"/>
            <a:ext cx="10332720" cy="32918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1.  </a:t>
            </a:r>
            <a:r>
              <a:rPr sz="1250" b="0">
                <a:solidFill>
                  <a:srgbClr val="FFFFFF"/>
                </a:solidFill>
                <a:latin typeface="Calibri"/>
              </a:rPr>
              <a:t>Finish your frequency response tester refinements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5413248"/>
            <a:ext cx="10332720" cy="32918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2.  </a:t>
            </a:r>
            <a:r>
              <a:rPr sz="1250" b="0">
                <a:solidFill>
                  <a:srgbClr val="FFFFFF"/>
                </a:solidFill>
                <a:latin typeface="Calibri"/>
              </a:rPr>
              <a:t>Read the workbook pages on MiM and streaming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5724144"/>
            <a:ext cx="10332720" cy="32918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3.  </a:t>
            </a:r>
            <a:r>
              <a:rPr sz="1250" b="0">
                <a:solidFill>
                  <a:srgbClr val="FFFFFF"/>
                </a:solidFill>
                <a:latin typeface="Calibri"/>
              </a:rPr>
              <a:t>Bring an RC filter idea for tomorrow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Spruha Build-in Solutions  |  Powered by Moku:Go — Liquid Instruments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