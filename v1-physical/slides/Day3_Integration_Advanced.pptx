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868680"/>
            <a:ext cx="1828800" cy="475488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DAY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8778240" cy="1920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Integration &amp;
Advanced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859536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028090"/>
                </a:solidFill>
                <a:latin typeface="Calibri"/>
              </a:rPr>
              <a:t>"Building Complex Test Systems"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7" name="Oval 6"/>
          <p:cNvSpPr/>
          <p:nvPr/>
        </p:nvSpPr>
        <p:spPr>
          <a:xfrm>
            <a:off x="9701784" y="101498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ave 7"/>
          <p:cNvSpPr/>
          <p:nvPr/>
        </p:nvSpPr>
        <p:spPr>
          <a:xfrm>
            <a:off x="9880092" y="1193292"/>
            <a:ext cx="356616" cy="35661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99064" y="1655064"/>
            <a:ext cx="713232" cy="71323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Gear 6 9"/>
          <p:cNvSpPr/>
          <p:nvPr/>
        </p:nvSpPr>
        <p:spPr>
          <a:xfrm>
            <a:off x="10977372" y="1833372"/>
            <a:ext cx="356616" cy="35661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10344" y="2478024"/>
            <a:ext cx="713232" cy="71323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ightning Bolt 11"/>
          <p:cNvSpPr/>
          <p:nvPr/>
        </p:nvSpPr>
        <p:spPr>
          <a:xfrm>
            <a:off x="9788652" y="2656332"/>
            <a:ext cx="356616" cy="35661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07624" y="3209544"/>
            <a:ext cx="713232" cy="71323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n 13"/>
          <p:cNvSpPr/>
          <p:nvPr/>
        </p:nvSpPr>
        <p:spPr>
          <a:xfrm>
            <a:off x="10885932" y="3387852"/>
            <a:ext cx="356616" cy="35661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94960"/>
            <a:ext cx="960120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Mahaveer. Rajendra. Savanur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Head of Engineering &amp; AI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3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16459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243584" y="1563624"/>
            <a:ext cx="530352" cy="530352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ave 10"/>
          <p:cNvSpPr/>
          <p:nvPr/>
        </p:nvSpPr>
        <p:spPr>
          <a:xfrm>
            <a:off x="1376172" y="1696212"/>
            <a:ext cx="265176" cy="265176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6276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8:00 – 9:00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6276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Exercise 2.3: MiM Frequency Sweep</a:t>
            </a:r>
            <a:r>
              <a:rPr sz="1200" b="0">
                <a:solidFill>
                  <a:srgbClr val="5A6B7B"/>
                </a:solidFill>
                <a:latin typeface="Calibri"/>
              </a:rPr>
              <a:t>    WG + Oscilloscope, Bode plot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2677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25603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1243584" y="2478024"/>
            <a:ext cx="530352" cy="530352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Gear 6 16"/>
          <p:cNvSpPr/>
          <p:nvPr/>
        </p:nvSpPr>
        <p:spPr>
          <a:xfrm>
            <a:off x="1376172" y="2610612"/>
            <a:ext cx="265176" cy="265176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25420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9:15 – 10:30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5420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AM Modulation &amp; Filter Characterization</a:t>
            </a:r>
            <a:r>
              <a:rPr sz="1200" b="0">
                <a:solidFill>
                  <a:srgbClr val="5A6B7B"/>
                </a:solidFill>
                <a:latin typeface="Calibri"/>
              </a:rPr>
              <a:t>    MiM hands-on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1821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94360" y="34747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1243584" y="3392424"/>
            <a:ext cx="530352" cy="530352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ightning Bolt 22"/>
          <p:cNvSpPr/>
          <p:nvPr/>
        </p:nvSpPr>
        <p:spPr>
          <a:xfrm>
            <a:off x="1376172" y="3525012"/>
            <a:ext cx="265176" cy="265176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34564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10:45 – 12:15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34564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Real-Time Data Streaming</a:t>
            </a:r>
            <a:r>
              <a:rPr sz="1200" b="0">
                <a:solidFill>
                  <a:srgbClr val="5A6B7B"/>
                </a:solidFill>
                <a:latin typeface="Calibri"/>
              </a:rPr>
              <a:t>    Datalogger + Exercise 3.1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0965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60" y="43891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Oval 27"/>
          <p:cNvSpPr/>
          <p:nvPr/>
        </p:nvSpPr>
        <p:spPr>
          <a:xfrm>
            <a:off x="1243584" y="4306824"/>
            <a:ext cx="530352" cy="530352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n 28"/>
          <p:cNvSpPr/>
          <p:nvPr/>
        </p:nvSpPr>
        <p:spPr>
          <a:xfrm>
            <a:off x="1376172" y="4439412"/>
            <a:ext cx="265176" cy="265176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3708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1:15 – 3:15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6200" y="43708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Advanced Analysis: FFT, SNR, THD</a:t>
            </a:r>
            <a:r>
              <a:rPr sz="1200" b="0">
                <a:solidFill>
                  <a:srgbClr val="5A6B7B"/>
                </a:solidFill>
                <a:latin typeface="Calibri"/>
              </a:rPr>
              <a:t>    Exercise 3.2 + signal quality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010912"/>
            <a:ext cx="10881360" cy="15240"/>
          </a:xfrm>
          <a:prstGeom prst="rect">
            <a:avLst/>
          </a:prstGeom>
          <a:solidFill>
            <a:srgbClr val="D7E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4360" y="5303520"/>
            <a:ext cx="365760" cy="36576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Oval 33"/>
          <p:cNvSpPr/>
          <p:nvPr/>
        </p:nvSpPr>
        <p:spPr>
          <a:xfrm>
            <a:off x="1243584" y="5221224"/>
            <a:ext cx="530352" cy="530352"/>
          </a:xfrm>
          <a:prstGeom prst="ellipse">
            <a:avLst/>
          </a:prstGeom>
          <a:solidFill>
            <a:srgbClr val="2F6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ube 34"/>
          <p:cNvSpPr/>
          <p:nvPr/>
        </p:nvSpPr>
        <p:spPr>
          <a:xfrm>
            <a:off x="1376172" y="5353812"/>
            <a:ext cx="265176" cy="265176"/>
          </a:xfrm>
          <a:prstGeom prst="cub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5285232"/>
            <a:ext cx="17373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3:30 – 5:00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86200" y="5285232"/>
            <a:ext cx="7772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202C"/>
                </a:solidFill>
                <a:latin typeface="Calibri"/>
              </a:rPr>
              <a:t>Day 2 Capstone Development</a:t>
            </a:r>
            <a:r>
              <a:rPr sz="1200" b="0">
                <a:solidFill>
                  <a:srgbClr val="5A6B7B"/>
                </a:solidFill>
                <a:latin typeface="Calibri"/>
              </a:rPr>
              <a:t>    team project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2.3 — MiM Frequency Sweep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day2/ex2_3_mim_frequency_sweep.py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m = MultiInstrument(MOKU_IP, platform_id=2,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force_connect=True)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wg  = m.set_instrument(1, WaveformGenerator)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osc = m.set_instrument(2, Oscilloscope)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m.set_connections(connections=[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dict(source='Slot1OutA',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destination='Output1'),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dict(source='Input1',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destination='Slot2InA'),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])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auto-trigger: 'Input1' is NOT a valid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    # trigger source inside MiM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for freq in np.logspace(1, 5, 25):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wg.generate_waveform(channel=1, type='Sine',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    amplitude=1.0,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      frequency=freq)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osc.set_timebase(-5/freq, 5/freq)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time.sleep(0.3)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ch1 = osc.get_data()['ch1']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vpp = max(ch1) - min(ch1)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m.relinquish_ownership()   # on m — ALWAYS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Hardware-verified March 2026 • deliverables: mim_sweep_data.csv + mim_sweep_bode.png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Loopback check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flat ~0 dB across the sweep,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then insert an RC filter and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watch the cutoff appear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962655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3040379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511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Timebase trick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±5 periods at every frequency: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set_timebase(-5/f, 5/f)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931918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4009642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22774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-3 dB cutoff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first point where Vpp drops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below 70.7% of 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MiM Hands-On — AM Modulation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45 minutes • carrier + message in one box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54533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68706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Slot 1: WG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100 kHz carrier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AM: 1 kHz message,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depth 50%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54533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68706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Internal Routing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Slot1OutA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→ Slot2InA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54533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68706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Slot 2: Scope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±2.5 ms window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5 modulation cycles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0827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37160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54533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68706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21284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Analysis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envelope (hilbert)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measured depth ≈ 50%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43560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" y="359816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584448"/>
            <a:ext cx="1068019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wg.set_modulation(channel=1, type='Amplitude', source='Internal', frequency=1e3, depth=50)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" y="401878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4005072"/>
            <a:ext cx="1068019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Verify: ~100 carrier cycles per modulation cycle, smooth 1 kHz envelope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443941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4425696"/>
            <a:ext cx="1068019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Depth from data: (Vmax − Vmin) / (Vmax + Vmin) × 100% — expect 50% ± 5%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" y="48600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" y="4846320"/>
            <a:ext cx="1068019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Bonus: try depths 25 / 75 / 100%, vary the message frequency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MiM Hands-On — Filter Characterization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Characterize a real RC low-pass filter: Bode plot, cutoff, roll-off — the measurement every circuits lab needs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Loopback sanity first: flat ≈ 0 dB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Insert RC filter: Out1 → R → C → In1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Sweep 10 Hz – 100 kHz, log-spaced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Gain (dB) = 20·log10(Vout/Vin)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Find the −3 dB cutoff frequency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Compare with theory: fc = 1/(2πRC)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[12/25] 158.5 Hz: 0.99 V  (-0.1 dB)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[18/25] 2511.9 Hz: 0.71 V (-3.0 dB)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  &lt;-- cutoff region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[25/25] 100000 Hz: 0.06 V (-24.4 dB)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-3dB cutoff: ~2512 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Theory 1/(2*pi*RC): 2653 Hz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45 minutes  |  pairs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Quality factor Q, roll-off rate in dB/decade, theoretical curve overlay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Multi-Instrument Mode —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64911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64911" cy="457200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874520"/>
            <a:ext cx="5245455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Single MultiInstrument() manages all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platform_id=2 for Moku:Go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Check set_connections()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3863" y="1325880"/>
            <a:ext cx="5464911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23863" y="1325880"/>
            <a:ext cx="5464911" cy="4572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Timing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3591" y="1874520"/>
            <a:ext cx="5245455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Wait ≥ 50 ms after frequency change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SETTLE_TIME in config.py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Longer settle for low frequencies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31336"/>
            <a:ext cx="5464911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831336"/>
            <a:ext cx="5464911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Cleanup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4379976"/>
            <a:ext cx="5245455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try / finally around everything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m.relinquish_ownership() — on m only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Never on the slot instruments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3863" y="3831336"/>
            <a:ext cx="5464911" cy="224942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3831336"/>
            <a:ext cx="5464911" cy="4572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Frontend in MiM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3591" y="4379976"/>
            <a:ext cx="5245455" cy="160934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Use m.set_frontend(...) on the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MultiInstrument object, not the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individual instruments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Real-Time Streaming — 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day3/ex3_1_datalogger_streaming.py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from moku.instruments import Datalogger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dl = Datalogger(MOKU_IP, force_connect=True)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dl.set_frontend(channel=1, impedance='1MOhm',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coupling='DC', range='10Vpp')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dl.generate_waveform(1, 'Sine', frequency=100)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dl.enable_input(2, enable=False)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dl.start_streaming(duration=10,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 sample_rate=10e3)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while True: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try: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data = dl.get_stream_data()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if data: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ch1 = data['ch1']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print(len(ch1), 'samples,',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     f'Vpp={max(ch1)-min(ch1):.4f}V')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except Exception as e: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if 'End of stream' in str(e):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break        # NORMAL completion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raise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finally: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dl.relinquish_ownership()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Snapshot (get_data) = one frame • streaming = continuous flow, chunk by 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'End of stream'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is EXPECTED at the end of a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fixed-duration stream —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catch it, do not treat as error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962655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3040379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511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Use cases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long-term monitoring, burn-in,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live dashboards, 24/7 logging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931918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4009642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22774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Buffering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deque(maxlen=N) keeps the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last N samples for live plots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3.1: Streaming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Stream real-time voltage data with live statistics and save every sample to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Stream 10 s at 10 kSa/s, Input 1 only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100 Hz test sine via BNC loopback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Per chunk: count, mean, std, Vpp — live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Catch 'End of stream' to exit cleanly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Save ~100,000 samples to stream_data.csv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Print the final summary statistics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Chunk  1 |  1024 | 0.0001 | 0.3527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Chunk  2 |  1024 | -0.0002 | 0.3531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...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Stream complete!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Total samples: 100,000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Data saved: stream_data.csv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30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Convert volts to "temperature" (T = V × 20) and alert above 80 °C; add a moving average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day3/ex3_1_datalogger_streaming.py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FFT, SNR &amp; THD —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7040880" cy="475488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9CDCFE"/>
                </a:solidFill>
                <a:latin typeface="Consolas"/>
              </a:rPr>
              <a:t>day3/ex3_2_fft_snr_thd.py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data = osc.get_data()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ch1 = np.array(data['ch1'])   # lists -&gt; arrays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   = np.array(data['time'])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N, dt = len(ch1), t[1] - t[0]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window  = np.hanning(N)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fft_mag = 2.0/N * np.abs(np.fft.rfft(ch1*window))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freqs   = np.fft.rfftfreq(N, dt)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dominant frequency (skip DC bin)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peak = np.argmax(fft_mag[1:]) + 1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SNR: peak power vs everything else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sig   = fft_mag[peak]**2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noise = np.mean([fft_mag[i]**2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for i in range(1, len(fft_mag))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            if abs(i - peak) &gt; 2])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snr_db = 10*np.log10(sig / max(noise, 1e-20))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6A9955"/>
                </a:solidFill>
                <a:latin typeface="Consolas"/>
              </a:rPr>
              <a:t># THD: harmonics 2..5 vs fundamental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h = [fft_mag[peak*k] for k in range(2, 6)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     if peak*k &lt; len(fft_mag)]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CE9178"/>
                </a:solidFill>
                <a:latin typeface="Consolas"/>
              </a:rPr>
              <a:t>thd = np.sqrt(sum(x**2 for x in h)) / fft_mag[peak]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08192"/>
            <a:ext cx="70408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Convert lists to arrays FIRST — get_data() returns Python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261872"/>
            <a:ext cx="384048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B2E59"/>
                </a:solidFill>
                <a:latin typeface="Calibri"/>
              </a:rPr>
              <a:t>Key Concepts</a:t>
            </a:r>
          </a:p>
        </p:txBody>
      </p:sp>
      <p:sp>
        <p:nvSpPr>
          <p:cNvPr id="12" name="Oval 11"/>
          <p:cNvSpPr/>
          <p:nvPr/>
        </p:nvSpPr>
        <p:spPr>
          <a:xfrm>
            <a:off x="7872983" y="1773936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ghtning Bolt 12"/>
          <p:cNvSpPr/>
          <p:nvPr/>
        </p:nvSpPr>
        <p:spPr>
          <a:xfrm>
            <a:off x="7950707" y="1851660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764792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Benchmarks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SNR &gt; 40 dB: clean signal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THD &lt; 1%: pure tone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how does yours compare?</a:t>
            </a:r>
          </a:p>
        </p:txBody>
      </p:sp>
      <p:sp>
        <p:nvSpPr>
          <p:cNvPr id="15" name="Oval 14"/>
          <p:cNvSpPr/>
          <p:nvPr/>
        </p:nvSpPr>
        <p:spPr>
          <a:xfrm>
            <a:off x="7872983" y="2962655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ightning Bolt 15"/>
          <p:cNvSpPr/>
          <p:nvPr/>
        </p:nvSpPr>
        <p:spPr>
          <a:xfrm>
            <a:off x="7950707" y="3040379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953511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Hann window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reduces spectral leakage on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non-integer cycle captures</a:t>
            </a:r>
          </a:p>
        </p:txBody>
      </p:sp>
      <p:sp>
        <p:nvSpPr>
          <p:cNvPr id="18" name="Oval 17"/>
          <p:cNvSpPr/>
          <p:nvPr/>
        </p:nvSpPr>
        <p:spPr>
          <a:xfrm>
            <a:off x="7872983" y="3931918"/>
            <a:ext cx="310896" cy="31089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ghtning Bolt 18"/>
          <p:cNvSpPr/>
          <p:nvPr/>
        </p:nvSpPr>
        <p:spPr>
          <a:xfrm>
            <a:off x="7950707" y="4009642"/>
            <a:ext cx="155448" cy="155448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922774"/>
            <a:ext cx="3383280" cy="12801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1">
                <a:solidFill>
                  <a:srgbClr val="1A202C"/>
                </a:solidFill>
                <a:latin typeface="Calibri"/>
              </a:rPr>
              <a:t>Grading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GOOD / FAIR / POOR thresholds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5A6B7B"/>
                </a:solidFill>
                <a:latin typeface="Calibri"/>
              </a:rPr>
              <a:t>printed by the script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Exercise 3.2: Signal Quality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34440"/>
            <a:ext cx="11183112" cy="566928"/>
          </a:xfrm>
          <a:prstGeom prst="rect">
            <a:avLst/>
          </a:prstGeom>
          <a:solidFill>
            <a:srgbClr val="E3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2E59"/>
                </a:solidFill>
                <a:latin typeface="Calibri"/>
              </a:rPr>
              <a:t>Objective:  </a:t>
            </a:r>
            <a:r>
              <a:rPr sz="1400" b="0">
                <a:solidFill>
                  <a:srgbClr val="1A202C"/>
                </a:solidFill>
                <a:latin typeface="Calibri"/>
              </a:rPr>
              <a:t>Capture a frame, compute its FFT, and grade the signal with SNR and THD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512064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Requirements</a:t>
            </a:r>
          </a:p>
        </p:txBody>
      </p:sp>
      <p:sp>
        <p:nvSpPr>
          <p:cNvPr id="11" name="Oval 10"/>
          <p:cNvSpPr/>
          <p:nvPr/>
        </p:nvSpPr>
        <p:spPr>
          <a:xfrm>
            <a:off x="603504" y="259232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7860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Capture: 1 kHz sine, 0.5 Vpp, loopback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" y="3031236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3017520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np.array() conversion before FFT</a:t>
            </a:r>
          </a:p>
        </p:txBody>
      </p:sp>
      <p:sp>
        <p:nvSpPr>
          <p:cNvPr id="15" name="Oval 14"/>
          <p:cNvSpPr/>
          <p:nvPr/>
        </p:nvSpPr>
        <p:spPr>
          <a:xfrm>
            <a:off x="603504" y="3470148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456432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Find dominant frequency vs expected</a:t>
            </a:r>
          </a:p>
        </p:txBody>
      </p:sp>
      <p:sp>
        <p:nvSpPr>
          <p:cNvPr id="17" name="Oval 16"/>
          <p:cNvSpPr/>
          <p:nvPr/>
        </p:nvSpPr>
        <p:spPr>
          <a:xfrm>
            <a:off x="603504" y="3909060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895344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SNR with GOOD/FAIR/POOR grade</a:t>
            </a:r>
          </a:p>
        </p:txBody>
      </p:sp>
      <p:sp>
        <p:nvSpPr>
          <p:cNvPr id="19" name="Oval 18"/>
          <p:cNvSpPr/>
          <p:nvPr/>
        </p:nvSpPr>
        <p:spPr>
          <a:xfrm>
            <a:off x="603504" y="4347972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4334256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THD over harmonics 2–5 with grade</a:t>
            </a:r>
          </a:p>
        </p:txBody>
      </p:sp>
      <p:sp>
        <p:nvSpPr>
          <p:cNvPr id="21" name="Oval 20"/>
          <p:cNvSpPr/>
          <p:nvPr/>
        </p:nvSpPr>
        <p:spPr>
          <a:xfrm>
            <a:off x="603504" y="4786884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773168"/>
            <a:ext cx="4828032" cy="62179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202C"/>
                </a:solidFill>
                <a:latin typeface="Calibri"/>
              </a:rPr>
              <a:t>4-panel plot: time, FFT, harmonics,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57400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B2E59"/>
                </a:solidFill>
                <a:latin typeface="Calibri"/>
              </a:rPr>
              <a:t>Expected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2606040"/>
            <a:ext cx="5486400" cy="2286000"/>
          </a:xfrm>
          <a:prstGeom prst="rect">
            <a:avLst/>
          </a:prstGeom>
          <a:solidFill>
            <a:srgbClr val="1E1E1E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Captured: 1024 samples at 102.4 kSa/s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CE9178"/>
                </a:solidFill>
                <a:latin typeface="Consolas"/>
              </a:rPr>
              <a:t>Dominant frequency: 1000.0 Hz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SNR: 58.3 dB  (GOOD)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9CDCFE"/>
                </a:solidFill>
                <a:latin typeface="Consolas"/>
              </a:rPr>
              <a:t>THD: 0.41 %   (GOOD)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A9955"/>
                </a:solidFill>
                <a:latin typeface="Consolas"/>
              </a:rPr>
              <a:t>Plot: fft_snr_thd_analysis.png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5074920"/>
            <a:ext cx="5486400" cy="502920"/>
          </a:xfrm>
          <a:prstGeom prst="rect">
            <a:avLst/>
          </a:prstGeom>
          <a:solidFill>
            <a:srgbClr val="FF6B35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Duration: 45 minutes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Calibri"/>
              </a:rPr>
              <a:t>Bonus Challenge:  </a:t>
            </a:r>
            <a:r>
              <a:rPr sz="1300" b="0">
                <a:solidFill>
                  <a:srgbClr val="1A202C"/>
                </a:solidFill>
                <a:latin typeface="Calibri"/>
              </a:rPr>
              <a:t>Where does the noise come from? What would clipping do to THD? Try amplitude 2.5 V and see.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86400"/>
            <a:ext cx="53949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B2E59"/>
                </a:solidFill>
                <a:latin typeface="Calibri"/>
              </a:rPr>
              <a:t>Script:  </a:t>
            </a:r>
            <a:r>
              <a:rPr sz="1200" b="0">
                <a:solidFill>
                  <a:srgbClr val="5A6B7B"/>
                </a:solidFill>
                <a:latin typeface="Calibri"/>
              </a:rPr>
              <a:t>day3/ex3_2_fft_snr_thd.py  •  compare with expected_outputs/ex3_2_expected.png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1247120" cy="731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Day 2 Capstone — Professional Test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76656"/>
            <a:ext cx="1115568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CADCFC"/>
                </a:solidFill>
                <a:latin typeface="Calibri"/>
              </a:rPr>
              <a:t>Starts now, presents tomorrow morning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Day 3: Integration &amp; 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6579108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5-Day SDI Lab Automation FDP  • 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579108"/>
            <a:ext cx="3840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Powered by Moku:Go — Liquid Instruments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4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73669" y="1636776"/>
            <a:ext cx="566928" cy="566928"/>
          </a:xfrm>
          <a:prstGeom prst="ellipse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Wave 11"/>
          <p:cNvSpPr/>
          <p:nvPr/>
        </p:nvSpPr>
        <p:spPr>
          <a:xfrm>
            <a:off x="1615401" y="1778508"/>
            <a:ext cx="283464" cy="283464"/>
          </a:xfrm>
          <a:prstGeom prst="wav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30428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B2E59"/>
                </a:solidFill>
                <a:latin typeface="Calibri"/>
              </a:rPr>
              <a:t>Multi-Instrument Mode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WG + Scope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internal routing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47923" y="229971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95395" y="146304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66145" y="1636776"/>
            <a:ext cx="566928" cy="566928"/>
          </a:xfrm>
          <a:prstGeom prst="ellipse">
            <a:avLst/>
          </a:prstGeom>
          <a:solidFill>
            <a:srgbClr val="0057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Gear 6 17"/>
          <p:cNvSpPr/>
          <p:nvPr/>
        </p:nvSpPr>
        <p:spPr>
          <a:xfrm>
            <a:off x="4507877" y="1778508"/>
            <a:ext cx="283464" cy="283464"/>
          </a:xfrm>
          <a:prstGeom prst="gear6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0259" y="230428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057B8"/>
                </a:solidFill>
                <a:latin typeface="Calibri"/>
              </a:rPr>
              <a:t>Parametric Sweep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frequency loop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gain at each point</a:t>
            </a:r>
          </a:p>
        </p:txBody>
      </p:sp>
      <p:sp>
        <p:nvSpPr>
          <p:cNvPr id="20" name="Oval 19"/>
          <p:cNvSpPr/>
          <p:nvPr/>
        </p:nvSpPr>
        <p:spPr>
          <a:xfrm>
            <a:off x="3459403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40399" y="229971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7871" y="146304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58621" y="1636776"/>
            <a:ext cx="566928" cy="56692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ightning Bolt 23"/>
          <p:cNvSpPr/>
          <p:nvPr/>
        </p:nvSpPr>
        <p:spPr>
          <a:xfrm>
            <a:off x="7400353" y="177850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42735" y="230428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Quality Metrics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FFT / SNR / THD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from Exercise 3.2</a:t>
            </a:r>
          </a:p>
        </p:txBody>
      </p:sp>
      <p:sp>
        <p:nvSpPr>
          <p:cNvPr id="26" name="Oval 25"/>
          <p:cNvSpPr/>
          <p:nvPr/>
        </p:nvSpPr>
        <p:spPr>
          <a:xfrm>
            <a:off x="6351879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832875" y="2299715"/>
            <a:ext cx="310896" cy="201168"/>
          </a:xfrm>
          <a:prstGeom prst="rightArrow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0347" y="1463040"/>
            <a:ext cx="2508427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51097" y="1636776"/>
            <a:ext cx="566928" cy="566928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n 29"/>
          <p:cNvSpPr/>
          <p:nvPr/>
        </p:nvSpPr>
        <p:spPr>
          <a:xfrm>
            <a:off x="10292829" y="1778508"/>
            <a:ext cx="283464" cy="283464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211" y="2304288"/>
            <a:ext cx="2398699" cy="97840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100"/>
              </a:spcAft>
            </a:pPr>
            <a:r>
              <a:rPr sz="1350" b="1">
                <a:solidFill>
                  <a:srgbClr val="FF6B35"/>
                </a:solidFill>
                <a:latin typeface="Calibri"/>
              </a:rPr>
              <a:t>Professional Output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CSV + plots</a:t>
            </a:r>
          </a:p>
          <a:p>
            <a:pPr algn="ctr">
              <a:spcAft>
                <a:spcPts val="100"/>
              </a:spcAft>
            </a:pPr>
            <a:r>
              <a:rPr sz="1050" b="0">
                <a:solidFill>
                  <a:srgbClr val="1A202C"/>
                </a:solidFill>
                <a:latin typeface="Calibri"/>
              </a:rPr>
              <a:t>written report</a:t>
            </a:r>
          </a:p>
        </p:txBody>
      </p:sp>
      <p:sp>
        <p:nvSpPr>
          <p:cNvPr id="32" name="Oval 31"/>
          <p:cNvSpPr/>
          <p:nvPr/>
        </p:nvSpPr>
        <p:spPr>
          <a:xfrm>
            <a:off x="9244355" y="1527048"/>
            <a:ext cx="347472" cy="347472"/>
          </a:xfrm>
          <a:prstGeom prst="ellipse">
            <a:avLst/>
          </a:prstGeom>
          <a:solidFill>
            <a:srgbClr val="FF6B3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Oval 32"/>
          <p:cNvSpPr/>
          <p:nvPr/>
        </p:nvSpPr>
        <p:spPr>
          <a:xfrm>
            <a:off x="566928" y="3735323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721607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Combine everything from Days 1–3 into one coherent, automated system</a:t>
            </a:r>
          </a:p>
        </p:txBody>
      </p:sp>
      <p:sp>
        <p:nvSpPr>
          <p:cNvPr id="35" name="Oval 34"/>
          <p:cNvSpPr/>
          <p:nvPr/>
        </p:nvSpPr>
        <p:spPr>
          <a:xfrm>
            <a:off x="566928" y="4155947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" y="4142231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Homework tonight: finish the system, prepare a 5-minute presentation</a:t>
            </a:r>
          </a:p>
        </p:txBody>
      </p:sp>
      <p:sp>
        <p:nvSpPr>
          <p:cNvPr id="37" name="Oval 36"/>
          <p:cNvSpPr/>
          <p:nvPr/>
        </p:nvSpPr>
        <p:spPr>
          <a:xfrm>
            <a:off x="566928" y="4576571"/>
            <a:ext cx="246888" cy="246888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" y="4562855"/>
            <a:ext cx="10588752" cy="60350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202C"/>
                </a:solidFill>
                <a:latin typeface="Calibri"/>
              </a:rPr>
              <a:t>Presentations tomorrow 8:20 AM — live demo required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589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Day 3 Complete!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28090"/>
                </a:solidFill>
                <a:latin typeface="Calibri"/>
              </a:rPr>
              <a:t>What You Achieved Today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8013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18013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Ran two instruments simultaneously with MiM routing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22585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2585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Built AM modulation and characterized a real RC filter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27157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7157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Streamed real-time data, handled End-of-stream correctly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1729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31729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Measured signal quality: FFT, SNR, THD with numpy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01D31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3630168"/>
            <a:ext cx="6400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FFFFFF"/>
                </a:solidFill>
                <a:latin typeface="Calibri"/>
              </a:rPr>
              <a:t>Started the Day 2 capstone — the professional test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234440"/>
            <a:ext cx="3703320" cy="2670048"/>
          </a:xfrm>
          <a:prstGeom prst="rect">
            <a:avLst/>
          </a:prstGeom>
          <a:solidFill>
            <a:srgbClr val="16325C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71600"/>
            <a:ext cx="33832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6B35"/>
                </a:solidFill>
                <a:latin typeface="Calibri"/>
              </a:rPr>
              <a:t>Tomorrow — Day 4 Preview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Capstone presentations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95143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Industry case studies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15767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The 5 automation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136391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Final capstone: A / B /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557015"/>
            <a:ext cx="3383280" cy="3840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090"/>
                </a:solidFill>
                <a:latin typeface="Calibri"/>
              </a:rPr>
              <a:t>▸  </a:t>
            </a:r>
            <a:r>
              <a:rPr sz="1250" b="0">
                <a:solidFill>
                  <a:srgbClr val="FFFFFF"/>
                </a:solidFill>
                <a:latin typeface="Calibri"/>
              </a:rPr>
              <a:t>Awards &amp; Day 5 preview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590288"/>
            <a:ext cx="10927080" cy="1792224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90000" dist="36000" dir="5400000" rotWithShape="0">
              <a:srgbClr val="1A202C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8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Homework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102352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1.  </a:t>
            </a:r>
            <a:r>
              <a:rPr sz="1250" b="0">
                <a:solidFill>
                  <a:srgbClr val="FFFFFF"/>
                </a:solidFill>
                <a:latin typeface="Calibri"/>
              </a:rPr>
              <a:t>Finish the Day 2 capstone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413248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2.  </a:t>
            </a:r>
            <a:r>
              <a:rPr sz="1250" b="0">
                <a:solidFill>
                  <a:srgbClr val="FFFFFF"/>
                </a:solidFill>
                <a:latin typeface="Calibri"/>
              </a:rPr>
              <a:t>Prepare a 5-minute presentation with 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724144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3.  </a:t>
            </a:r>
            <a:r>
              <a:rPr sz="1250" b="0">
                <a:solidFill>
                  <a:srgbClr val="FFFFFF"/>
                </a:solidFill>
                <a:latin typeface="Calibri"/>
              </a:rPr>
              <a:t>Review Days 1–3 API patterns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Spruha Build-in Solutions  |  Powered by Moku:Go — Liquid Instruments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