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1828800" cy="457200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DAY 3 OF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20116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Integration &amp;
Advanced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0584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"Building Complex Test Systems"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6B35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8" name="Oval 7"/>
          <p:cNvSpPr/>
          <p:nvPr/>
        </p:nvSpPr>
        <p:spPr>
          <a:xfrm>
            <a:off x="85953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/>
          <p:cNvSpPr/>
          <p:nvPr/>
        </p:nvSpPr>
        <p:spPr>
          <a:xfrm>
            <a:off x="1017545" y="5178065"/>
            <a:ext cx="342351" cy="342351"/>
          </a:xfrm>
          <a:prstGeom prst="wav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1965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Gear 6 10"/>
          <p:cNvSpPr/>
          <p:nvPr/>
        </p:nvSpPr>
        <p:spPr>
          <a:xfrm>
            <a:off x="1977665" y="5178065"/>
            <a:ext cx="342351" cy="342351"/>
          </a:xfrm>
          <a:prstGeom prst="gear6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79776" y="5020056"/>
            <a:ext cx="658368" cy="65836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ightning Bolt 12"/>
          <p:cNvSpPr/>
          <p:nvPr/>
        </p:nvSpPr>
        <p:spPr>
          <a:xfrm>
            <a:off x="2937785" y="5178065"/>
            <a:ext cx="342351" cy="342351"/>
          </a:xfrm>
          <a:prstGeom prst="lightningBol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39896" y="5020056"/>
            <a:ext cx="658368" cy="658368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n 14"/>
          <p:cNvSpPr/>
          <p:nvPr/>
        </p:nvSpPr>
        <p:spPr>
          <a:xfrm>
            <a:off x="3897905" y="5178065"/>
            <a:ext cx="342351" cy="342351"/>
          </a:xfrm>
          <a:prstGeom prst="can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Mahaveer. Rajendra. Savanur  |  Head of Engineering &amp; AI Systems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Day 3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Oval 5"/>
          <p:cNvSpPr/>
          <p:nvPr/>
        </p:nvSpPr>
        <p:spPr>
          <a:xfrm>
            <a:off x="585216" y="1271016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1234440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8:00 – 9:00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23444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Exercise 2.3: MiM Frequency Sweep</a:t>
            </a:r>
            <a:r>
              <a:rPr sz="1200" b="0">
                <a:solidFill>
                  <a:srgbClr val="5A6B7B"/>
                </a:solidFill>
                <a:latin typeface="Calibri"/>
              </a:rPr>
              <a:t>   WG + Oscilloscope, Bode plot</a:t>
            </a:r>
          </a:p>
        </p:txBody>
      </p:sp>
      <p:sp>
        <p:nvSpPr>
          <p:cNvPr id="9" name="Oval 8"/>
          <p:cNvSpPr/>
          <p:nvPr/>
        </p:nvSpPr>
        <p:spPr>
          <a:xfrm>
            <a:off x="585216" y="1947672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911096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9:15 – 10:30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911096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AM Modulation &amp; Filter Characterization</a:t>
            </a:r>
            <a:r>
              <a:rPr sz="1200" b="0">
                <a:solidFill>
                  <a:srgbClr val="5A6B7B"/>
                </a:solidFill>
                <a:latin typeface="Calibri"/>
              </a:rPr>
              <a:t>   MiM hands-on</a:t>
            </a:r>
          </a:p>
        </p:txBody>
      </p:sp>
      <p:sp>
        <p:nvSpPr>
          <p:cNvPr id="12" name="Oval 11"/>
          <p:cNvSpPr/>
          <p:nvPr/>
        </p:nvSpPr>
        <p:spPr>
          <a:xfrm>
            <a:off x="585216" y="2624328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2587752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10:45 – 12:15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58775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Real-Time Data Streaming</a:t>
            </a:r>
            <a:r>
              <a:rPr sz="1200" b="0">
                <a:solidFill>
                  <a:srgbClr val="5A6B7B"/>
                </a:solidFill>
                <a:latin typeface="Calibri"/>
              </a:rPr>
              <a:t>   Datalogger + Exercise 3.1</a:t>
            </a:r>
          </a:p>
        </p:txBody>
      </p:sp>
      <p:sp>
        <p:nvSpPr>
          <p:cNvPr id="15" name="Oval 14"/>
          <p:cNvSpPr/>
          <p:nvPr/>
        </p:nvSpPr>
        <p:spPr>
          <a:xfrm>
            <a:off x="585216" y="3300984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264408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1:15 – 3:15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264408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Advanced Analysis: FFT, SNR, THD</a:t>
            </a:r>
            <a:r>
              <a:rPr sz="1200" b="0">
                <a:solidFill>
                  <a:srgbClr val="5A6B7B"/>
                </a:solidFill>
                <a:latin typeface="Calibri"/>
              </a:rPr>
              <a:t>   Exercise 3.2 + signal quality</a:t>
            </a:r>
          </a:p>
        </p:txBody>
      </p:sp>
      <p:sp>
        <p:nvSpPr>
          <p:cNvPr id="18" name="Oval 17"/>
          <p:cNvSpPr/>
          <p:nvPr/>
        </p:nvSpPr>
        <p:spPr>
          <a:xfrm>
            <a:off x="585216" y="3977640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941064"/>
            <a:ext cx="1965960" cy="457200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3:30 – 5:00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941064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02C"/>
                </a:solidFill>
                <a:latin typeface="Calibri"/>
              </a:rPr>
              <a:t>Day 2 Capstone Development</a:t>
            </a:r>
            <a:r>
              <a:rPr sz="1200" b="0">
                <a:solidFill>
                  <a:srgbClr val="5A6B7B"/>
                </a:solidFill>
                <a:latin typeface="Calibri"/>
              </a:rPr>
              <a:t>   team project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Exercise 2.3 — MiM Frequency Sweep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from moku.instruments import (MultiInstrument,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WaveformGenerator, Oscilloscope)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m = MultiInstrument(MOKU_IP, platform_id=2,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force_connect=True)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try: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wg  = m.set_instrument(1, WaveformGenerator)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osc = m.set_instrument(2, Oscilloscope)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m.set_connections(connections=[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dict(source='Slot1OutA', destination='Output1'),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dict(source='Input1',    destination='Slot2InA'),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])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# auto-trigger: 'Input1' is NOT a valid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# trigger source inside MiM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for freq in np.logspace(1, 5, 25):   # 10Hz-100kHz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wg.generate_waveform(channel=1, type='Sine',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       amplitude=1.0, frequency=freq)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osc.set_timebase(-5/freq, 5/freq)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time.sleep(0.3)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ch1 = osc.get_data()['ch1']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vpp = max(ch1) - min(ch1)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finally: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m.relinquish_ownership()   # on m — ALWAYS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69494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day2/ex2_3_mim_frequency_sweep.py (excerpt) — hardware-verified March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32588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Deliverables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3677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819656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mim_sweep_data.csv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mim_sweep_bode.png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-3 dB cutoff (if any)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880360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288036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Loopback check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19125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3374136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Flat ~0 dB across the sweep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Then insert an RC filter and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watch the cutoff appear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4434840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443484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Timebase trick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474573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4928616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±5 periods at every frequency: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set_timebase(-5/f, 5/f)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MiM Hands-On — AM Modulation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45 minutes  •  carrier + message in one box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Slot 1: WG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100 kHz carrier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AM, 1 kHz message,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depth 50%</a:t>
            </a:r>
          </a:p>
        </p:txBody>
      </p:sp>
      <p:sp>
        <p:nvSpPr>
          <p:cNvPr id="8" name="Oval 7"/>
          <p:cNvSpPr/>
          <p:nvPr/>
        </p:nvSpPr>
        <p:spPr>
          <a:xfrm>
            <a:off x="1563966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27349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2253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Internal
Routing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Slot1OutA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-&gt; Slot2InA</a:t>
            </a:r>
          </a:p>
        </p:txBody>
      </p:sp>
      <p:sp>
        <p:nvSpPr>
          <p:cNvPr id="11" name="Oval 10"/>
          <p:cNvSpPr/>
          <p:nvPr/>
        </p:nvSpPr>
        <p:spPr>
          <a:xfrm>
            <a:off x="4463299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26683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Slot 2: Scope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±2.5 ms window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5 modulation cycles</a:t>
            </a:r>
          </a:p>
        </p:txBody>
      </p:sp>
      <p:sp>
        <p:nvSpPr>
          <p:cNvPr id="14" name="Oval 13"/>
          <p:cNvSpPr/>
          <p:nvPr/>
        </p:nvSpPr>
        <p:spPr>
          <a:xfrm>
            <a:off x="7362633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6017" y="222199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00921" y="155448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Analysis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envelope (hilbert)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measured depth ≈ 50%</a:t>
            </a:r>
          </a:p>
        </p:txBody>
      </p:sp>
      <p:sp>
        <p:nvSpPr>
          <p:cNvPr id="17" name="Oval 16"/>
          <p:cNvSpPr/>
          <p:nvPr/>
        </p:nvSpPr>
        <p:spPr>
          <a:xfrm>
            <a:off x="10261967" y="137160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2102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20440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wg.set_modulation(channel=1, type='Amplitude', source='Internal', frequency=1e3, depth=50)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04164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3941064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Verify: ~100 carrier cycles per modulation cycle, smooth 1 kHz envelope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6227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361688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Depth from data: (Vmax − Vmin) / (Vmax + Vmin) × 100% — expect 50% ± 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4782312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Bonus: try depths 25 / 75 / 100%, vary the message frequency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MiM Hands-On — Automated Filter Characterization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45 minutes  •  the measurement every circuits lab needs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Sweep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10 Hz – 100 kHz, log-spaced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WG -&gt; Output1 -&gt; DUT -&gt; Input1 -&gt; Scope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measure Vin and Vout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Compute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Gain (dB) = 20·log10(Vout/Vin)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Identify the −3 dB cutoff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Roll-off rate (dB/decade)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Loopback first: flat ≈ 0 dB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RC low-pass: −20 dB/decade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fc ≈ 1/(2πRC) — compare to theory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147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Bonus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3299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Quality factor Q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Resonant frequency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Compare measured vs theoretical curve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Multi-Instrument Mode — 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78627" cy="23088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Connection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9105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73936"/>
            <a:ext cx="5332323" cy="17419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Single MultiInstrument() manages all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platform_id=2 for Moku:Go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Check set_connections()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280160"/>
            <a:ext cx="5478627" cy="23088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0147" y="128016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Timing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59105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3299" y="1773936"/>
            <a:ext cx="5332323" cy="17419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Wait ≥ 50 ms after frequency change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SETTLE_TIME in config.py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Longer settle for low frequencies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17620"/>
            <a:ext cx="5478627" cy="23088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381762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Cleanup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12851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4311396"/>
            <a:ext cx="5332323" cy="17419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try / finally around everything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m.relinquish_ownership() — on m only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Never on the slot instruments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147" y="3817620"/>
            <a:ext cx="5478627" cy="23088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0147" y="381762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Frontend in MiM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0147" y="412851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3299" y="4311396"/>
            <a:ext cx="5332323" cy="174193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Use m.set_frontend(...) on the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MultiInstrument object, not the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individual instruments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Real-Time Streaming — 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from moku.instruments import Datalogger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dl = Datalogger(MOKU_IP, force_connect=True)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try: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dl.set_frontend(channel=1, impedance='1MOhm',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coupling='DC', range='10Vpp')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dl.generate_waveform(1, 'Sine', frequency=100)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dl.enable_input(2, enable=False)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dl.start_streaming(duration=10,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 sample_rate=10e3)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while True: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try: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data = dl.get_stream_data()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if data: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ch1 = data['ch1']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print(len(ch1), 'samples,',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     f'Vpp={max(ch1)-min(ch1):.4f}V')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except Exception as e: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if 'End of stream' in str(e):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break        # NORMAL completion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raise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finally: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dl.relinquish_ownership()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69494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day3/ex3_1_datalogger_streaming.py (excerpt)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32588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Snapshot vs 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3677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819656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get_data() = one frame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start_streaming() = continuous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flow, chunk by chunk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880360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288036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'End of stream'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19125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3374136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Is EXPECTED at the end of 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fixed-duration stream.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Catch it; do not treat as 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4434840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443484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Use cases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474573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4928616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Long-term monitoring, burn-in,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live dashboards, 24/7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Exercise 3.1 — Streaming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30 minutes  •  day3/ex3_1_datalogger_streaming.py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10 s at 10 kSa/s, Input 1 only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100 Hz test sine via loopback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Per Chunk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Sample count, mean, std, Vpp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printed live as data arrives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At the End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~100,000 samples in stream_data.csv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Final summary statistics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147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Finished Early?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3299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Convert volts to “temperature”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(T = V × 20) and alert above 80 °C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Add a moving-average filter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FFT, SNR &amp; THD —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6949440" cy="4709160"/>
          </a:xfrm>
          <a:prstGeom prst="roundRect">
            <a:avLst>
              <a:gd name="adj" fmla="val 4000"/>
            </a:avLst>
          </a:prstGeom>
          <a:solidFill>
            <a:srgbClr val="142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data = osc.get_data()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ch1 = np.array(data['ch1'])   # lists -&gt; arrays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t   = np.array(data['time'])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N, dt = len(ch1), t[1] - t[0]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window  = np.hanning(N)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fft_mag = 2.0/N * np.abs(np.fft.rfft(ch1*window))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freqs   = np.fft.rfftfreq(N, dt)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# dominant frequency (skip DC bin)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peak = np.argmax(fft_mag[1:]) + 1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# SNR: peak power vs everything else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sig   = fft_mag[peak]**2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noise = np.mean([fft_mag[i]**2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for i in range(1, len(fft_mag))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            if abs(i - peak) &gt; 2])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snr_db = 10*np.log10(sig / max(noise, 1e-20))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# THD: harmonics 2..5 vs fundamental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h = [fft_mag[peak*k] for k in range(2, 6)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     if peak*k &lt; len(fft_mag)]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D9E6F5"/>
                </a:solidFill>
                <a:latin typeface="Consolas"/>
              </a:rPr>
              <a:t>thd = np.sqrt(sum(x**2 for x in h)) / fft_mag[peak]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089904"/>
            <a:ext cx="694944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6B7B"/>
                </a:solidFill>
                <a:latin typeface="Calibri"/>
              </a:rPr>
              <a:t>day3/ex3_2_fft_snr_thd.py (excerpt)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0" y="1325880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Convert first!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636776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2" y="1819656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get_data() gives Python lists —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np.array() before FFT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642616"/>
            <a:ext cx="3977639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0" y="2642616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Benchmarks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953512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54112" y="3136392"/>
            <a:ext cx="3831335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SNR &gt; 40 dB: clean signal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THD &lt; 1%: pure tone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How does yours compare?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4197096"/>
            <a:ext cx="3977639" cy="11521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4197096"/>
            <a:ext cx="3977639" cy="420624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Window why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4507992"/>
            <a:ext cx="3977639" cy="1097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4112" y="4690872"/>
            <a:ext cx="3831335" cy="585216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Hann window reduces spectral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leakage on non-integer cycles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Exercise 3.2 — Signal Quality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45 minutes  •  day3/ex3_2_fft_snr_thd.py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4-Panel 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Time domain  •  FFT spectrum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Harmonic stems  •  metrics box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fft_snr_thd_analysis.png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37160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0147" y="137160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0147" y="168249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3299" y="186537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Dominant frequency vs expected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SNR (dB) with GOOD/FAIR/POOR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THD (%) with GOOD/FAIR/POOR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Compare with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expected_outputs/ex3_2_expected.png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1 kHz loopback: SNR ≫ 40 dB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3863340"/>
            <a:ext cx="5478627" cy="22631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0147" y="3863340"/>
            <a:ext cx="5478627" cy="420624"/>
          </a:xfrm>
          <a:prstGeom prst="roundRect">
            <a:avLst>
              <a:gd name="adj" fmla="val 8000"/>
            </a:avLst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Discussion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4174236"/>
            <a:ext cx="5478627" cy="10972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3299" y="4357116"/>
            <a:ext cx="5332323" cy="1696212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Where does the noise come from?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Why is THD nonzero on a “pure” sine?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A202C"/>
                </a:solidFill>
                <a:latin typeface="Calibri"/>
              </a:rPr>
              <a:t>What would clipping do to THD?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772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057B8"/>
                </a:solidFill>
                <a:latin typeface="Calibri"/>
              </a:rPr>
              <a:t>Day 2 Capstone — Professional Test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Starts now, presents tomorrow morning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79108"/>
            <a:ext cx="64008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5-Day SDI Lab Automation FDP  • 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6579108"/>
            <a:ext cx="4572000" cy="2743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Powered by Moku:Go — Liquid Instruments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4592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Multi-Instrument
Mode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WG + Scope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internal routing</a:t>
            </a:r>
          </a:p>
        </p:txBody>
      </p:sp>
      <p:sp>
        <p:nvSpPr>
          <p:cNvPr id="8" name="Oval 7"/>
          <p:cNvSpPr/>
          <p:nvPr/>
        </p:nvSpPr>
        <p:spPr>
          <a:xfrm>
            <a:off x="1563966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27349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02253" y="164592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Parametric
Sweep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frequency loop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gain at each point</a:t>
            </a:r>
          </a:p>
        </p:txBody>
      </p:sp>
      <p:sp>
        <p:nvSpPr>
          <p:cNvPr id="11" name="Oval 10"/>
          <p:cNvSpPr/>
          <p:nvPr/>
        </p:nvSpPr>
        <p:spPr>
          <a:xfrm>
            <a:off x="4463299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26683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64592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Quality
Metrics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FFT / SNR / THD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from Exercise 3.2</a:t>
            </a:r>
          </a:p>
        </p:txBody>
      </p:sp>
      <p:sp>
        <p:nvSpPr>
          <p:cNvPr id="14" name="Oval 13"/>
          <p:cNvSpPr/>
          <p:nvPr/>
        </p:nvSpPr>
        <p:spPr>
          <a:xfrm>
            <a:off x="7362633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26017" y="2313432"/>
            <a:ext cx="338328" cy="219456"/>
          </a:xfrm>
          <a:prstGeom prst="rightArrow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00921" y="1645920"/>
            <a:ext cx="2487853" cy="15544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 w="15875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57B8"/>
                </a:solidFill>
                <a:latin typeface="Calibri"/>
              </a:rPr>
              <a:t>Professional
Output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CSV + plots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1A202C"/>
                </a:solidFill>
                <a:latin typeface="Calibri"/>
              </a:rPr>
              <a:t>written report</a:t>
            </a:r>
          </a:p>
        </p:txBody>
      </p:sp>
      <p:sp>
        <p:nvSpPr>
          <p:cNvPr id="17" name="Oval 16"/>
          <p:cNvSpPr/>
          <p:nvPr/>
        </p:nvSpPr>
        <p:spPr>
          <a:xfrm>
            <a:off x="10261967" y="1463040"/>
            <a:ext cx="365760" cy="365760"/>
          </a:xfrm>
          <a:prstGeom prst="ellipse">
            <a:avLst/>
          </a:prstGeom>
          <a:solidFill>
            <a:srgbClr val="FF6B35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12464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611880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Combine everything from Days 1–3 into one coherent, automated system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133088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4032504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Homework tonight: finish the system, prepare a 5-minute presentation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53712"/>
            <a:ext cx="146304" cy="146304"/>
          </a:xfrm>
          <a:prstGeom prst="roundRect">
            <a:avLst>
              <a:gd name="adj" fmla="val 8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453128"/>
            <a:ext cx="10680192" cy="649224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Presentations tomorrow 8:20 AM — live demo required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Day 3 Complete!</a:t>
            </a:r>
          </a:p>
        </p:txBody>
      </p:sp>
      <p:sp>
        <p:nvSpPr>
          <p:cNvPr id="5" name="Oval 4"/>
          <p:cNvSpPr/>
          <p:nvPr/>
        </p:nvSpPr>
        <p:spPr>
          <a:xfrm>
            <a:off x="850392" y="1618488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591056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Ran two instruments simultaneously with MiM routing</a:t>
            </a:r>
          </a:p>
        </p:txBody>
      </p:sp>
      <p:sp>
        <p:nvSpPr>
          <p:cNvPr id="7" name="Oval 6"/>
          <p:cNvSpPr/>
          <p:nvPr/>
        </p:nvSpPr>
        <p:spPr>
          <a:xfrm>
            <a:off x="850392" y="2112264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84832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Built AM modulation and filter characterization systems</a:t>
            </a:r>
          </a:p>
        </p:txBody>
      </p:sp>
      <p:sp>
        <p:nvSpPr>
          <p:cNvPr id="9" name="Oval 8"/>
          <p:cNvSpPr/>
          <p:nvPr/>
        </p:nvSpPr>
        <p:spPr>
          <a:xfrm>
            <a:off x="850392" y="2606040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578608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Streamed real-time data and handled End-of-stream correctly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3099816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072384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Measured signal quality: FFT, SNR, THD with numpy</a:t>
            </a:r>
          </a:p>
        </p:txBody>
      </p:sp>
      <p:sp>
        <p:nvSpPr>
          <p:cNvPr id="13" name="Oval 12"/>
          <p:cNvSpPr/>
          <p:nvPr/>
        </p:nvSpPr>
        <p:spPr>
          <a:xfrm>
            <a:off x="850392" y="3593592"/>
            <a:ext cx="310896" cy="310896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566160"/>
            <a:ext cx="987552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Started the Day 2 capstone — the professional test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10515600" cy="10972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Tomorrow: industry automation patterns, case studies, and your final capstone project.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Calibri"/>
              </a:rPr>
              <a:t>Spruha Build-in Solutions  |  Powered by Moku:Go — Liquid Instruments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