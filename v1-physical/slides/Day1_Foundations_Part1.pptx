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828800" cy="475488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DAY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77824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Foundations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595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028090"/>
                </a:solidFill>
                <a:latin typeface="Calibri"/>
              </a:rPr>
              <a:t>"From Manual to Automated — Getting Started"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7" name="Oval 6"/>
          <p:cNvSpPr/>
          <p:nvPr/>
        </p:nvSpPr>
        <p:spPr>
          <a:xfrm>
            <a:off x="9701784" y="101498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9880092" y="1193292"/>
            <a:ext cx="356616" cy="35661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1655064"/>
            <a:ext cx="713232" cy="71323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10977372" y="1833372"/>
            <a:ext cx="356616" cy="3566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10344" y="2478024"/>
            <a:ext cx="713232" cy="71323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788652" y="2656332"/>
            <a:ext cx="356616" cy="3566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7624" y="320954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10885932" y="3387852"/>
            <a:ext cx="356616" cy="3566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Mahaveer. Rajendra. Savanur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Head of Engineering &amp;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1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43584" y="1563624"/>
            <a:ext cx="530352" cy="530352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376172" y="1696212"/>
            <a:ext cx="265176" cy="26517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276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8:00 – 9:00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6276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Introduction &amp; Workshop Overview</a:t>
            </a:r>
            <a:r>
              <a:rPr sz="1200" b="0">
                <a:solidFill>
                  <a:srgbClr val="5A6B7B"/>
                </a:solidFill>
                <a:latin typeface="Calibri"/>
              </a:rPr>
              <a:t>    objectives, teams, the case for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677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243584" y="2478024"/>
            <a:ext cx="530352" cy="53035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1376172" y="2610612"/>
            <a:ext cx="265176" cy="26517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420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9:15 – 10:30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420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Environment Setup &amp; Verification</a:t>
            </a:r>
            <a:r>
              <a:rPr sz="1200" b="0">
                <a:solidFill>
                  <a:srgbClr val="5A6B7B"/>
                </a:solidFill>
                <a:latin typeface="Calibri"/>
              </a:rPr>
              <a:t>    Python, moku, mokucli, connection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821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" y="339242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1376172" y="3525012"/>
            <a:ext cx="265176" cy="26517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4564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10:45 – 12:30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4564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Oscilloscope &amp; Waveform Generator Automation</a:t>
            </a:r>
            <a:r>
              <a:rPr sz="1200" b="0">
                <a:solidFill>
                  <a:srgbClr val="5A6B7B"/>
                </a:solidFill>
                <a:latin typeface="Calibri"/>
              </a:rPr>
              <a:t>    live demos + Exercises 1.1 and 1.2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965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3891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243584" y="4306824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376172" y="4439412"/>
            <a:ext cx="265176" cy="26517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3708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1:30 – 3:30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3708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Practice, Bonus Challenges &amp; Office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109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53035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243584" y="5221224"/>
            <a:ext cx="530352" cy="530352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1376172" y="5353812"/>
            <a:ext cx="265176" cy="26517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2852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3:45 – 5:00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852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Code Review, Q&amp;A and Day 1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Automate Test &amp; Measurement?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Case study: a 100-point frequency sweep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64911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546491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Manual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65960"/>
            <a:ext cx="5245455" cy="2651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~2 hours per sweep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Error-prone and inconsistent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Limited test coverage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No regression testing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Results live in a notebook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417320"/>
            <a:ext cx="5464911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41732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Automated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965960"/>
            <a:ext cx="5245455" cy="2651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~2 minutes per sweep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Perfectly repeatable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Full coverage, every run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Re-run any time, 24/7 unattended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CSV + plots, every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02C"/>
                </a:solidFill>
                <a:latin typeface="Calibri"/>
              </a:rPr>
              <a:t>The skill you are building this week: </a:t>
            </a:r>
            <a:r>
              <a:rPr sz="1600" b="1">
                <a:solidFill>
                  <a:srgbClr val="0057B8"/>
                </a:solidFill>
                <a:latin typeface="Calibri"/>
              </a:rPr>
              <a:t>teaching Python to run your lab instruments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ROI of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590723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B2E59"/>
                </a:solidFill>
                <a:latin typeface="Calibri"/>
              </a:rPr>
              <a:t>40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24078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one-time development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7963" y="1463040"/>
            <a:ext cx="2590723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7963" y="166420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28090"/>
                </a:solidFill>
                <a:latin typeface="Calibri"/>
              </a:rPr>
              <a:t>200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2487168"/>
            <a:ext cx="24078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saved per year (100 runs × 2 hrs)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463040"/>
            <a:ext cx="2590723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166420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~2.5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487168"/>
            <a:ext cx="24078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payback period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051" y="1463040"/>
            <a:ext cx="2590723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51" y="166420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F6B46"/>
                </a:solidFill>
                <a:latin typeface="Calibri"/>
              </a:rPr>
              <a:t>60×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491" y="2487168"/>
            <a:ext cx="24078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faster per test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747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Industry Applications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00964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95928"/>
            <a:ext cx="1040587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Academic Research:  IIT Madras lock-in amplifier experiments, 48-hour unattended datasets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43026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416552"/>
            <a:ext cx="1040587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Manufacturing:  automated product testing &amp; QA with zero data-entry errors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485089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837176"/>
            <a:ext cx="1040587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R&amp;D:  design validation and characterization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" y="527151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257800"/>
            <a:ext cx="1040587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Education:  consistent, repeatable lab experiences for every student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Moku:Go — Your Lab in a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Software-defined instrumentation: 15+ instruments in one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55793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65960"/>
            <a:ext cx="3338474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2× Analog Inputs (BNC, 30 MHz, 125 MSa/s)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2× Analog Outputs (BNC, 20 MHz)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16× Digital I/O pins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Programmable supplies (some units)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USB-C / Ethernet / Wi-Fi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417320"/>
            <a:ext cx="355793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417320"/>
            <a:ext cx="3557930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1965960"/>
            <a:ext cx="3338474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Oscilloscope, WG, AWG, Logic Analyzer,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Datalogger… — defined in software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Multi-Instrument Mode: 2 at once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Python / MATLAB / LabVIEW APIs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Over-the-air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417320"/>
            <a:ext cx="355793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41732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1965960"/>
            <a:ext cx="3338474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One device replaces racks of equipment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Software-defined = future-proof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Same automation skills transfer to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any instrument with an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02C"/>
                </a:solidFill>
                <a:latin typeface="Calibri"/>
              </a:rPr>
              <a:t>Focus of this FDP: </a:t>
            </a:r>
            <a:r>
              <a:rPr sz="1500" b="1">
                <a:solidFill>
                  <a:srgbClr val="FF6B35"/>
                </a:solidFill>
                <a:latin typeface="Calibri"/>
              </a:rPr>
              <a:t>test &amp; measurement AUTOMATION — not product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Environment Setup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Everyone connected before lunch — this is the #1 Day-1 blocker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92993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422" y="159105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326154" y="173278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58568"/>
            <a:ext cx="1820204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Verify Python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python --version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needs 3.10+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9428" y="227685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900" y="1417320"/>
            <a:ext cx="192993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8402" y="159105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3640134" y="173278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764" y="2258568"/>
            <a:ext cx="1820204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Install moku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pip install moku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numpy matplotlib</a:t>
            </a:r>
          </a:p>
        </p:txBody>
      </p:sp>
      <p:sp>
        <p:nvSpPr>
          <p:cNvPr id="20" name="Oval 19"/>
          <p:cNvSpPr/>
          <p:nvPr/>
        </p:nvSpPr>
        <p:spPr>
          <a:xfrm>
            <a:off x="2880908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3409" y="227685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0881" y="1417320"/>
            <a:ext cx="192993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2383" y="159105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5954115" y="173278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5745" y="2258568"/>
            <a:ext cx="1820204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Bitstreams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mokucli instrument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download (~500 MB)</a:t>
            </a:r>
          </a:p>
        </p:txBody>
      </p:sp>
      <p:sp>
        <p:nvSpPr>
          <p:cNvPr id="26" name="Oval 25"/>
          <p:cNvSpPr/>
          <p:nvPr/>
        </p:nvSpPr>
        <p:spPr>
          <a:xfrm>
            <a:off x="5194889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97389" y="227685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4861" y="1417320"/>
            <a:ext cx="192993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6364" y="159105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8268096" y="173278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9725" y="2258568"/>
            <a:ext cx="1820204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Find your IP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mokucli list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or device screen</a:t>
            </a:r>
          </a:p>
        </p:txBody>
      </p:sp>
      <p:sp>
        <p:nvSpPr>
          <p:cNvPr id="32" name="Oval 31"/>
          <p:cNvSpPr/>
          <p:nvPr/>
        </p:nvSpPr>
        <p:spPr>
          <a:xfrm>
            <a:off x="7508869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11370" y="227685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58842" y="1417320"/>
            <a:ext cx="192993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0344" y="1591056"/>
            <a:ext cx="566928" cy="566928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be 35"/>
          <p:cNvSpPr/>
          <p:nvPr/>
        </p:nvSpPr>
        <p:spPr>
          <a:xfrm>
            <a:off x="10582076" y="1732788"/>
            <a:ext cx="283464" cy="283464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3706" y="2258568"/>
            <a:ext cx="1820204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2F6B46"/>
                </a:solidFill>
                <a:latin typeface="Calibri"/>
              </a:rPr>
              <a:t>Test connect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set config.py IP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run connection test</a:t>
            </a:r>
          </a:p>
        </p:txBody>
      </p:sp>
      <p:sp>
        <p:nvSpPr>
          <p:cNvPr id="38" name="Oval 37"/>
          <p:cNvSpPr/>
          <p:nvPr/>
        </p:nvSpPr>
        <p:spPr>
          <a:xfrm>
            <a:off x="9822850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70332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02C"/>
                </a:solidFill>
                <a:latin typeface="Calibri"/>
              </a:rPr>
              <a:t>One IP to rule them all: </a:t>
            </a:r>
            <a:r>
              <a:rPr sz="1500" b="1">
                <a:solidFill>
                  <a:srgbClr val="0057B8"/>
                </a:solidFill>
                <a:latin typeface="Calibri"/>
              </a:rPr>
              <a:t>every script imports MOKU_IP from scripts/config.py — edit it once.</a:t>
            </a:r>
          </a:p>
        </p:txBody>
      </p:sp>
      <p:sp>
        <p:nvSpPr>
          <p:cNvPr id="40" name="Oval 39"/>
          <p:cNvSpPr/>
          <p:nvPr/>
        </p:nvSpPr>
        <p:spPr>
          <a:xfrm>
            <a:off x="566928" y="43296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4315968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Connection refused?  Same Wi-Fi network as the Moku:Go, IP correct in config.py</a:t>
            </a:r>
          </a:p>
        </p:txBody>
      </p:sp>
      <p:sp>
        <p:nvSpPr>
          <p:cNvPr id="42" name="Oval 41"/>
          <p:cNvSpPr/>
          <p:nvPr/>
        </p:nvSpPr>
        <p:spPr>
          <a:xfrm>
            <a:off x="566928" y="475030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" y="4736592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Device busy?  force_connect=True (already set in config) or wait ~60 s</a:t>
            </a:r>
          </a:p>
        </p:txBody>
      </p:sp>
      <p:sp>
        <p:nvSpPr>
          <p:cNvPr id="44" name="Oval 43"/>
          <p:cNvSpPr/>
          <p:nvPr/>
        </p:nvSpPr>
        <p:spPr>
          <a:xfrm>
            <a:off x="566928" y="517093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5157216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Stuck?  Raise your hand — we fix connections before moving 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Core Automation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Every script this week follows the same 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508427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9105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73278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58568"/>
            <a:ext cx="2398699" cy="9326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CONNECT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Establish connection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to the Moku:Go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417320"/>
            <a:ext cx="2508427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9105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73278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58568"/>
            <a:ext cx="2398699" cy="9326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CONFIGURE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Set instrument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parameters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417320"/>
            <a:ext cx="2508427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9105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73278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58568"/>
            <a:ext cx="2398699" cy="9326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ACQUIRE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Capture data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&amp; measurements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417320"/>
            <a:ext cx="2508427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9105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73278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58568"/>
            <a:ext cx="2398699" cy="9326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CLEANUP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Release ownership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&amp; save results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8132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11880"/>
            <a:ext cx="11183112" cy="210312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/>
              </a:rPr>
              <a:t># The pattern every script follows: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osc = Oscilloscope(MOKU_IP, force_connect=True)   # CONNECT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osc.set_timebase(-0.001, 0.001)                   # CONFIGURE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data = osc.get_data()                             # ACQUIRE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osc.relinquish_ownership()                        # CLEANUP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Skip CLEANUP and the device stays locked. </a:t>
            </a:r>
            <a:r>
              <a:rPr sz="1350" b="1">
                <a:solidFill>
                  <a:srgbClr val="FF6B35"/>
                </a:solidFill>
                <a:latin typeface="Calibri"/>
              </a:rPr>
              <a:t>try / finally is not optional.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Oscilloscope Automation —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day1/ex1_1_oscilloscope_logging.py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Oscilloscope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config import MOKU_IP, FORCE_CONNECT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osc = Oscilloscope(MOKU_IP, force_connect=FORCE_CONNECT)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osc.set_frontend(channel=1, impedance='1MOhm',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coupling='DC', range='10Vpp')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osc.generate_waveform(1, 'Sine',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 amplitude=0.5, frequency=1e3)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osc.set_timebase(-5e-3, 5e-3)   # +/- 5 ms window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osc.set_trigger(type='Edge',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source='Input1', level=0)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data = osc.get_data()      # Python LISTS, not numpy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ch1 = data['ch1']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vpp = max(ch1) - min(ch1)  # list ops work directly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print(f'Vpp = {vpp:.4f} V')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osc.relinquish_ownership()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Loopback: Output 1 -&gt; Input 1 (BNC cable)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API mirrors the GUI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every knob in the app is 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method call in Python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743199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2820923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34055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get_data() returns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dict of LISTS: 'time','ch1','ch2'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np.array() before numpy math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712462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3790186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18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set_timebase()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seconds relative to trigger</a:t>
            </a:r>
          </a:p>
        </p:txBody>
      </p:sp>
      <p:sp>
        <p:nvSpPr>
          <p:cNvPr id="21" name="Oval 20"/>
          <p:cNvSpPr/>
          <p:nvPr/>
        </p:nvSpPr>
        <p:spPr>
          <a:xfrm>
            <a:off x="7872983" y="4462269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ightning Bolt 21"/>
          <p:cNvSpPr/>
          <p:nvPr/>
        </p:nvSpPr>
        <p:spPr>
          <a:xfrm>
            <a:off x="7950707" y="4539993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453125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Always call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relinquish_ownership()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 a finally block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1.1: Oscilloscope Data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Capture 10 oscilloscope frames, save each to CSV, compute statistics, create a summary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Configure timebase: ±5 ms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Configure trigger: Edge, Input1, 0 V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Capture 10 frames (0.5 s delay each)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Save each frame to its own CSV file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Print stats: Min, Max, Vpp per frame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Create a summary plot of all 10 frames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Frame  1 | 0.9921 | -0.4961 | 0.4960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frame_01.csv saved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Frame  2 | 0.9842 | -0.4921 | 0.4921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frame_02.csv saved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...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Mean Vpp: 0.9881 V   Std: 0.0040 V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Plot saved: oscilloscope_summary.png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30 minutes  |  Teams of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Add SPC limits — mean and ±3 sigma bounds on the summary plot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day1/ex1_1_oscilloscope_logging.py  •  compare with expected_outputs/ex1_1_expected.png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Waveform Generator Automation —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day1/ex1_2_waveform_generator_sweep.py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WaveformGenerator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config import MOKU_IP, FORCE_CONNECT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wg = WaveformGenerator(MOKU_IP, force_connect=FORCE_CONNECT)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one waveform, three lines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wg.generate_waveform(channel=1, type='Sine',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amplitude=1.0, frequency=1000)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automation = the same call in a loop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for freq in [100, 1000, 10000, 100000]: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wg.generate_waveform(channel=1, type='Sine',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    amplitude=1.0, frequency=freq)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time.sleep(0.5)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Square needs duty=, Ramp needs symmetry=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wg.generate_waveform(channel=1, type='Square',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amplitude=2.0, frequency=5000,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duty=30)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wg.relinquish_ownership()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stimulus side — combined with the scope: stimulus-response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Waveform types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'Sine', 'Square', 'Ramp',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'Triangle', 'Pulse', 'DC'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743199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2820923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34055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Per-type params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Square / Pulse need duty=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Ramp needs symmetry=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712462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3790186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18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The whole idea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21 manual steps become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 3-line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1.2: Automated Waveform Test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Automate a frequency × waveform sweep and measure your efficiency gain vs manual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Test matrix: 7 frequencies (100 Hz – 100 kHz)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Waveforms: Sine, Square, Ramp = 21 tests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Log every test to wg_sweep_log.csv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Time the run; compare vs ~30 s per manual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Print the efficiency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Test 21/21: Ramp @ 100000 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EFFICIENCY REPORT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Total tests:     21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Automated time:  12.4 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Manual estimate: 630 s (10.5 min)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Efficiency gain: 50.8x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30 minutes  |  share your ×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Add amplitude sweep 0.1 – 2.0 V in 0.1 V steps; recompute total tests and time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day1/ex1_2_waveform_generator_sweep.py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Code Review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Afternoon session — bring your Exercise 1.1 / 1.2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1: Foundations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Imports at top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Config constants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Functions for reuse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Main logic at the bottom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371600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371600"/>
            <a:ext cx="355793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Error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1920240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try / except / finally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Cleanup ALWAYS in finally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Print errors, don't swallow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371600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37160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1920240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CSV with header rows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Consistent file naming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Timestamps in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77056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77056"/>
            <a:ext cx="3557930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Plot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25696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Axis labels with units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Titles and grids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dpi=150 for 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6882" y="3877056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6882" y="3877056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6610" y="4425696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Minimal sleep times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Save incrementally on long runs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Settle ≥ 50 ms after waveform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844" y="3877056"/>
            <a:ext cx="3557930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844" y="3877056"/>
            <a:ext cx="3557930" cy="457200"/>
          </a:xfrm>
          <a:prstGeom prst="rect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572" y="4425696"/>
            <a:ext cx="3338474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config.py for shared constants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One pattern, many experiments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Your scripts become templates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589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1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What You Achieved Today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013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Set up the Python + Moku:Go development environment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585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Learned the Connect → Configure → Acquire → Cleanup pattern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157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Automated Oscilloscope capture with CSV logging &amp; statistics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1729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Automated Waveform Generator parametric sweeps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301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Measured your own efficiency gain vs manual 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703320" cy="2670048"/>
          </a:xfrm>
          <a:prstGeom prst="rect">
            <a:avLst/>
          </a:prstGeom>
          <a:solidFill>
            <a:srgbClr val="16325C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71600"/>
            <a:ext cx="33832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Tomorrow — Day 2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Arbitrary Waveform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95143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Logic Analyzer &amp; digital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7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Capstone: Frequency Response Tester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1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Multi-Instrument Mode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57015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Internal routing &amp; connections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0288"/>
            <a:ext cx="10927080" cy="179222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8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02352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 </a:t>
            </a:r>
            <a:r>
              <a:rPr sz="1250" b="0">
                <a:solidFill>
                  <a:srgbClr val="FFFFFF"/>
                </a:solidFill>
                <a:latin typeface="Calibri"/>
              </a:rPr>
              <a:t>Review today's code — ensure both exercises run cleanly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13248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 </a:t>
            </a:r>
            <a:r>
              <a:rPr sz="1250" b="0">
                <a:solidFill>
                  <a:srgbClr val="FFFFFF"/>
                </a:solidFill>
                <a:latin typeface="Calibri"/>
              </a:rPr>
              <a:t>Read the workbook pages on AWG and Logic 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2414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 </a:t>
            </a:r>
            <a:r>
              <a:rPr sz="1250" b="0">
                <a:solidFill>
                  <a:srgbClr val="FFFFFF"/>
                </a:solidFill>
                <a:latin typeface="Calibri"/>
              </a:rPr>
              <a:t>Prepare questions for tomorrow's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