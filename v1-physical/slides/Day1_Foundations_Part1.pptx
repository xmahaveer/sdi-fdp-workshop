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777240"/>
            <a:ext cx="1828800" cy="457200"/>
          </a:xfrm>
          <a:prstGeom prst="roundRect">
            <a:avLst>
              <a:gd name="adj" fmla="val 8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DAY 1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10515600" cy="20116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4800" b="1">
                <a:solidFill>
                  <a:srgbClr val="FFFFFF"/>
                </a:solidFill>
                <a:latin typeface="Calibri"/>
              </a:rPr>
              <a:t>Foundations — 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1005840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CADCFC"/>
                </a:solidFill>
                <a:latin typeface="Calibri"/>
              </a:rPr>
              <a:t>"From Manual to Automated — Getting Started"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34840"/>
            <a:ext cx="100584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6B35"/>
                </a:solidFill>
                <a:latin typeface="Calibri"/>
              </a:rPr>
              <a:t>5-Day SDI Lab Automation FDP  •  v2.0</a:t>
            </a:r>
          </a:p>
        </p:txBody>
      </p:sp>
      <p:sp>
        <p:nvSpPr>
          <p:cNvPr id="8" name="Oval 7"/>
          <p:cNvSpPr/>
          <p:nvPr/>
        </p:nvSpPr>
        <p:spPr>
          <a:xfrm>
            <a:off x="859536" y="5020056"/>
            <a:ext cx="658368" cy="65836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Wave 8"/>
          <p:cNvSpPr/>
          <p:nvPr/>
        </p:nvSpPr>
        <p:spPr>
          <a:xfrm>
            <a:off x="1017545" y="5178065"/>
            <a:ext cx="342351" cy="342351"/>
          </a:xfrm>
          <a:prstGeom prst="wav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19656" y="5020056"/>
            <a:ext cx="658368" cy="658368"/>
          </a:xfrm>
          <a:prstGeom prst="ellipse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ear 6 10"/>
          <p:cNvSpPr/>
          <p:nvPr/>
        </p:nvSpPr>
        <p:spPr>
          <a:xfrm>
            <a:off x="1977665" y="5178065"/>
            <a:ext cx="342351" cy="342351"/>
          </a:xfrm>
          <a:prstGeom prst="gear6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779776" y="5020056"/>
            <a:ext cx="658368" cy="65836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Lightning Bolt 12"/>
          <p:cNvSpPr/>
          <p:nvPr/>
        </p:nvSpPr>
        <p:spPr>
          <a:xfrm>
            <a:off x="2937785" y="5178065"/>
            <a:ext cx="342351" cy="342351"/>
          </a:xfrm>
          <a:prstGeom prst="lightningBol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739896" y="5020056"/>
            <a:ext cx="658368" cy="658368"/>
          </a:xfrm>
          <a:prstGeom prst="ellipse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an 14"/>
          <p:cNvSpPr/>
          <p:nvPr/>
        </p:nvSpPr>
        <p:spPr>
          <a:xfrm>
            <a:off x="3897905" y="5178065"/>
            <a:ext cx="342351" cy="342351"/>
          </a:xfrm>
          <a:prstGeom prst="can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897880"/>
            <a:ext cx="10515600" cy="8229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Mahaveer. Rajendra. Savanur  |  Head of Engineering &amp; AI Systems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Spruha Build-in Solutions  |  Powered by Moku:Go — Liquid Instruments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057B8"/>
                </a:solidFill>
                <a:latin typeface="Calibri"/>
              </a:rPr>
              <a:t>Day 1 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79108"/>
            <a:ext cx="6400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5-Day SDI Lab Automation FDP  •  v2.0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6579108"/>
            <a:ext cx="4572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Powered by Moku:Go — Liquid Instruments</a:t>
            </a:r>
          </a:p>
        </p:txBody>
      </p:sp>
      <p:sp>
        <p:nvSpPr>
          <p:cNvPr id="6" name="Oval 5"/>
          <p:cNvSpPr/>
          <p:nvPr/>
        </p:nvSpPr>
        <p:spPr>
          <a:xfrm>
            <a:off x="585216" y="1271016"/>
            <a:ext cx="384048" cy="38404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1234440"/>
            <a:ext cx="1965960" cy="457200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8:00 – 9:00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1234440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02C"/>
                </a:solidFill>
                <a:latin typeface="Calibri"/>
              </a:rPr>
              <a:t>Introduction &amp; Workshop Overview</a:t>
            </a:r>
            <a:r>
              <a:rPr sz="1200" b="0">
                <a:solidFill>
                  <a:srgbClr val="5A6B7B"/>
                </a:solidFill>
                <a:latin typeface="Calibri"/>
              </a:rPr>
              <a:t>   objectives, teams, the case for automation</a:t>
            </a:r>
          </a:p>
        </p:txBody>
      </p:sp>
      <p:sp>
        <p:nvSpPr>
          <p:cNvPr id="9" name="Oval 8"/>
          <p:cNvSpPr/>
          <p:nvPr/>
        </p:nvSpPr>
        <p:spPr>
          <a:xfrm>
            <a:off x="585216" y="1947672"/>
            <a:ext cx="384048" cy="38404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1911096"/>
            <a:ext cx="1965960" cy="457200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9:15 – 10:30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1911096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02C"/>
                </a:solidFill>
                <a:latin typeface="Calibri"/>
              </a:rPr>
              <a:t>Environment Setup &amp; Verification</a:t>
            </a:r>
            <a:r>
              <a:rPr sz="1200" b="0">
                <a:solidFill>
                  <a:srgbClr val="5A6B7B"/>
                </a:solidFill>
                <a:latin typeface="Calibri"/>
              </a:rPr>
              <a:t>   Python, moku, mokucli, connection test</a:t>
            </a:r>
          </a:p>
        </p:txBody>
      </p:sp>
      <p:sp>
        <p:nvSpPr>
          <p:cNvPr id="12" name="Oval 11"/>
          <p:cNvSpPr/>
          <p:nvPr/>
        </p:nvSpPr>
        <p:spPr>
          <a:xfrm>
            <a:off x="585216" y="2624328"/>
            <a:ext cx="384048" cy="38404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2587752"/>
            <a:ext cx="1965960" cy="457200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10:45 – 12:30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258775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02C"/>
                </a:solidFill>
                <a:latin typeface="Calibri"/>
              </a:rPr>
              <a:t>Oscilloscope &amp; Waveform Generator Automation</a:t>
            </a:r>
            <a:r>
              <a:rPr sz="1200" b="0">
                <a:solidFill>
                  <a:srgbClr val="5A6B7B"/>
                </a:solidFill>
                <a:latin typeface="Calibri"/>
              </a:rPr>
              <a:t>   live demos + Exercises 1.1 and 1.2</a:t>
            </a:r>
          </a:p>
        </p:txBody>
      </p:sp>
      <p:sp>
        <p:nvSpPr>
          <p:cNvPr id="15" name="Oval 14"/>
          <p:cNvSpPr/>
          <p:nvPr/>
        </p:nvSpPr>
        <p:spPr>
          <a:xfrm>
            <a:off x="585216" y="3300984"/>
            <a:ext cx="384048" cy="38404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264408"/>
            <a:ext cx="1965960" cy="457200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1:30 – 3:30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91840" y="3264408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02C"/>
                </a:solidFill>
                <a:latin typeface="Calibri"/>
              </a:rPr>
              <a:t>Practice, Bonus Challenges &amp; Office Hours</a:t>
            </a:r>
          </a:p>
        </p:txBody>
      </p:sp>
      <p:sp>
        <p:nvSpPr>
          <p:cNvPr id="18" name="Oval 17"/>
          <p:cNvSpPr/>
          <p:nvPr/>
        </p:nvSpPr>
        <p:spPr>
          <a:xfrm>
            <a:off x="585216" y="3977640"/>
            <a:ext cx="384048" cy="38404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3941064"/>
            <a:ext cx="1965960" cy="457200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3:45 – 5:00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91840" y="3941064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02C"/>
                </a:solidFill>
                <a:latin typeface="Calibri"/>
              </a:rPr>
              <a:t>Code Review, Q&amp;A and Day 1 Wrap-Up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057B8"/>
                </a:solidFill>
                <a:latin typeface="Calibri"/>
              </a:rPr>
              <a:t>Why Automate Test &amp; Measurement?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A6B7B"/>
                </a:solidFill>
                <a:latin typeface="Calibri"/>
              </a:rPr>
              <a:t>Case study: a 100-point frequency sweep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79108"/>
            <a:ext cx="6400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5-Day SDI Lab Automation FDP  •  v2.0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6579108"/>
            <a:ext cx="4572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Powered by Moku:Go — Liquid Instruments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63040"/>
            <a:ext cx="5478627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463040"/>
            <a:ext cx="5478627" cy="420624"/>
          </a:xfrm>
          <a:prstGeom prst="roundRect">
            <a:avLst>
              <a:gd name="adj" fmla="val 8000"/>
            </a:avLst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Manual Testing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73936"/>
            <a:ext cx="5478627" cy="109728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956816"/>
            <a:ext cx="5332323" cy="235915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~2 hours per sweep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Error-prone and inconsistent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Limited test coverage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No regression testing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Results live in a notebook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147" y="1463040"/>
            <a:ext cx="5478627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0147" y="1463040"/>
            <a:ext cx="5478627" cy="420624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Automated Testing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0147" y="1773936"/>
            <a:ext cx="5478627" cy="1097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83299" y="1956816"/>
            <a:ext cx="5332323" cy="235915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~2 minutes per sweep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Perfectly repeatable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Full coverage, every run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Re-run any time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CSV + plots, every run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754880"/>
            <a:ext cx="11155680" cy="12801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A202C"/>
                </a:solidFill>
                <a:latin typeface="Calibri"/>
              </a:rPr>
              <a:t>The skill you are building this week: </a:t>
            </a:r>
            <a:r>
              <a:rPr sz="1600" b="1">
                <a:solidFill>
                  <a:srgbClr val="0057B8"/>
                </a:solidFill>
                <a:latin typeface="Calibri"/>
              </a:rPr>
              <a:t>teaching Python to run your lab instruments for you.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057B8"/>
                </a:solidFill>
                <a:latin typeface="Calibri"/>
              </a:rPr>
              <a:t>The ROI of Automation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79108"/>
            <a:ext cx="6400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5-Day SDI Lab Automation FDP  •  v2.0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6579108"/>
            <a:ext cx="4572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Powered by Moku:Go — Liquid Instruments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2590723" cy="1645920"/>
          </a:xfrm>
          <a:prstGeom prst="roundRect">
            <a:avLst>
              <a:gd name="adj" fmla="val 8000"/>
            </a:avLst>
          </a:prstGeom>
          <a:solidFill>
            <a:srgbClr val="FFF0E9"/>
          </a:solidFill>
          <a:ln w="15875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FF6B35"/>
                </a:solidFill>
                <a:latin typeface="Calibri"/>
              </a:rPr>
              <a:t>40 hrs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one-time development investment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67963" y="1463040"/>
            <a:ext cx="2590723" cy="1645920"/>
          </a:xfrm>
          <a:prstGeom prst="roundRect">
            <a:avLst>
              <a:gd name="adj" fmla="val 8000"/>
            </a:avLst>
          </a:prstGeom>
          <a:solidFill>
            <a:srgbClr val="FFF0E9"/>
          </a:solidFill>
          <a:ln w="15875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FF6B35"/>
                </a:solidFill>
                <a:latin typeface="Calibri"/>
              </a:rPr>
              <a:t>200 hrs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saved per year (100 runs × 2 hrs)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1463040"/>
            <a:ext cx="2590723" cy="1645920"/>
          </a:xfrm>
          <a:prstGeom prst="roundRect">
            <a:avLst>
              <a:gd name="adj" fmla="val 8000"/>
            </a:avLst>
          </a:prstGeom>
          <a:solidFill>
            <a:srgbClr val="FFF0E9"/>
          </a:solidFill>
          <a:ln w="15875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FF6B35"/>
                </a:solidFill>
                <a:latin typeface="Calibri"/>
              </a:rPr>
              <a:t>~2.5 mo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payback period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98051" y="1463040"/>
            <a:ext cx="2590723" cy="1645920"/>
          </a:xfrm>
          <a:prstGeom prst="roundRect">
            <a:avLst>
              <a:gd name="adj" fmla="val 8000"/>
            </a:avLst>
          </a:prstGeom>
          <a:solidFill>
            <a:srgbClr val="FFF0E9"/>
          </a:solidFill>
          <a:ln w="15875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FF6B35"/>
                </a:solidFill>
                <a:latin typeface="Calibri"/>
              </a:rPr>
              <a:t>60×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faster per test run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474720"/>
            <a:ext cx="3576218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3474720"/>
            <a:ext cx="3576218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Academic Research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785616"/>
            <a:ext cx="3576218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" y="3968496"/>
            <a:ext cx="3429914" cy="162763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IIT Madras lock-in amplifier experiments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48-hour unattended datasets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07738" y="3474720"/>
            <a:ext cx="3576218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07738" y="3474720"/>
            <a:ext cx="3576218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Manufacturing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07738" y="3785616"/>
            <a:ext cx="3576218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0890" y="3968496"/>
            <a:ext cx="3429914" cy="162763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Automated product testing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Pass/fail with zero data-entry errors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2556" y="3474720"/>
            <a:ext cx="3576218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112556" y="3474720"/>
            <a:ext cx="3576218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Teaching Labs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2556" y="3785616"/>
            <a:ext cx="3576218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5708" y="3968496"/>
            <a:ext cx="3429914" cy="162763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Bode plot in 5 minutes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Students analyze instead of crank knobs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057B8"/>
                </a:solidFill>
                <a:latin typeface="Calibri"/>
              </a:rPr>
              <a:t>Moku:Go — Your Lab in a 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A6B7B"/>
                </a:solidFill>
                <a:latin typeface="Calibri"/>
              </a:rPr>
              <a:t>Software-defined instrumentation: 15+ instruments in one device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79108"/>
            <a:ext cx="6400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5-Day SDI Lab Automation FDP  •  v2.0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6579108"/>
            <a:ext cx="4572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Powered by Moku:Go — Liquid Instruments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63040"/>
            <a:ext cx="357621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463040"/>
            <a:ext cx="3576218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Hardware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73936"/>
            <a:ext cx="3576218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956816"/>
            <a:ext cx="3429914" cy="27249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2× Analog Inputs (BNC, 30 MHz, 125 MSa/s)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2× Analog Outputs (BNC, 20 MHz)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16× Digital I/O pins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Programmable power supplies (some units)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USB-C / Ethernet / Wi-Fi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7738" y="1463040"/>
            <a:ext cx="357621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07738" y="1463040"/>
            <a:ext cx="3576218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Software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07738" y="1773936"/>
            <a:ext cx="3576218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0890" y="1956816"/>
            <a:ext cx="3429914" cy="27249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Oscilloscope, WG, AWG, Logic Analyzer,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Datalogger, and more — defined in software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Multi-Instrument Mode: 2 at once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Python / MATLAB / LabVIEW APIs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Over-the-air updates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2556" y="1463040"/>
            <a:ext cx="357621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12556" y="1463040"/>
            <a:ext cx="3576218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Why It Matters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2556" y="1773936"/>
            <a:ext cx="3576218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5708" y="1956816"/>
            <a:ext cx="3429914" cy="27249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One device replaces racks of equipment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Software-defined = future-proof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Same automation skills transfer to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any instrument with an API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029200"/>
            <a:ext cx="1115568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A202C"/>
                </a:solidFill>
                <a:latin typeface="Calibri"/>
              </a:rPr>
              <a:t>Focus of this FDP: </a:t>
            </a:r>
            <a:r>
              <a:rPr sz="1500" b="1">
                <a:solidFill>
                  <a:srgbClr val="FF6B35"/>
                </a:solidFill>
                <a:latin typeface="Calibri"/>
              </a:rPr>
              <a:t>test &amp; measurement AUTOMATION — not product training.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057B8"/>
                </a:solidFill>
                <a:latin typeface="Calibri"/>
              </a:rPr>
              <a:t>Environment Setup &amp;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A6B7B"/>
                </a:solidFill>
                <a:latin typeface="Calibri"/>
              </a:rPr>
              <a:t>Everyone connected before lunch — this is the #1 Day-1 blocker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79108"/>
            <a:ext cx="6400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5-Day SDI Lab Automation FDP  •  v2.0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6579108"/>
            <a:ext cx="4572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Powered by Moku:Go — Liquid Instruments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907987" cy="155448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057B8"/>
                </a:solidFill>
                <a:latin typeface="Calibri"/>
              </a:rPr>
              <a:t>1. Verify Python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python --version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needs 3.10+</a:t>
            </a:r>
          </a:p>
        </p:txBody>
      </p:sp>
      <p:sp>
        <p:nvSpPr>
          <p:cNvPr id="8" name="Oval 7"/>
          <p:cNvSpPr/>
          <p:nvPr/>
        </p:nvSpPr>
        <p:spPr>
          <a:xfrm>
            <a:off x="1274033" y="1463040"/>
            <a:ext cx="365760" cy="365760"/>
          </a:xfrm>
          <a:prstGeom prst="ellipse">
            <a:avLst/>
          </a:prstGeom>
          <a:solidFill>
            <a:srgbClr val="FF6B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447483" y="2313432"/>
            <a:ext cx="338328" cy="219456"/>
          </a:xfrm>
          <a:prstGeom prst="rightArrow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22387" y="1645920"/>
            <a:ext cx="1907987" cy="155448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057B8"/>
                </a:solidFill>
                <a:latin typeface="Calibri"/>
              </a:rPr>
              <a:t>2. Install moku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pip install moku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numpy matplotlib</a:t>
            </a:r>
          </a:p>
        </p:txBody>
      </p:sp>
      <p:sp>
        <p:nvSpPr>
          <p:cNvPr id="11" name="Oval 10"/>
          <p:cNvSpPr/>
          <p:nvPr/>
        </p:nvSpPr>
        <p:spPr>
          <a:xfrm>
            <a:off x="3593500" y="1463040"/>
            <a:ext cx="365760" cy="365760"/>
          </a:xfrm>
          <a:prstGeom prst="ellipse">
            <a:avLst/>
          </a:prstGeom>
          <a:solidFill>
            <a:srgbClr val="FF6B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766950" y="2313432"/>
            <a:ext cx="338328" cy="219456"/>
          </a:xfrm>
          <a:prstGeom prst="rightArrow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141854" y="1645920"/>
            <a:ext cx="1907987" cy="155448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057B8"/>
                </a:solidFill>
                <a:latin typeface="Calibri"/>
              </a:rPr>
              <a:t>3. Bitstreams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mokucli instrument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download (~500 MB)</a:t>
            </a:r>
          </a:p>
        </p:txBody>
      </p:sp>
      <p:sp>
        <p:nvSpPr>
          <p:cNvPr id="14" name="Oval 13"/>
          <p:cNvSpPr/>
          <p:nvPr/>
        </p:nvSpPr>
        <p:spPr>
          <a:xfrm>
            <a:off x="5912967" y="1463040"/>
            <a:ext cx="365760" cy="365760"/>
          </a:xfrm>
          <a:prstGeom prst="ellipse">
            <a:avLst/>
          </a:prstGeom>
          <a:solidFill>
            <a:srgbClr val="FF6B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086417" y="2313432"/>
            <a:ext cx="338328" cy="219456"/>
          </a:xfrm>
          <a:prstGeom prst="rightArrow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461321" y="1645920"/>
            <a:ext cx="1907987" cy="155448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057B8"/>
                </a:solidFill>
                <a:latin typeface="Calibri"/>
              </a:rPr>
              <a:t>4. Find your IP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mokucli list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or device screen</a:t>
            </a:r>
          </a:p>
        </p:txBody>
      </p:sp>
      <p:sp>
        <p:nvSpPr>
          <p:cNvPr id="17" name="Oval 16"/>
          <p:cNvSpPr/>
          <p:nvPr/>
        </p:nvSpPr>
        <p:spPr>
          <a:xfrm>
            <a:off x="8232434" y="1463040"/>
            <a:ext cx="365760" cy="365760"/>
          </a:xfrm>
          <a:prstGeom prst="ellipse">
            <a:avLst/>
          </a:prstGeom>
          <a:solidFill>
            <a:srgbClr val="FF6B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405884" y="2313432"/>
            <a:ext cx="338328" cy="219456"/>
          </a:xfrm>
          <a:prstGeom prst="rightArrow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780788" y="1645920"/>
            <a:ext cx="1907987" cy="155448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057B8"/>
                </a:solidFill>
                <a:latin typeface="Calibri"/>
              </a:rPr>
              <a:t>5. Test connect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set config.py IP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run connection test</a:t>
            </a:r>
          </a:p>
        </p:txBody>
      </p:sp>
      <p:sp>
        <p:nvSpPr>
          <p:cNvPr id="20" name="Oval 19"/>
          <p:cNvSpPr/>
          <p:nvPr/>
        </p:nvSpPr>
        <p:spPr>
          <a:xfrm>
            <a:off x="10551901" y="1463040"/>
            <a:ext cx="365760" cy="365760"/>
          </a:xfrm>
          <a:prstGeom prst="ellipse">
            <a:avLst/>
          </a:prstGeom>
          <a:solidFill>
            <a:srgbClr val="FF6B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749039"/>
            <a:ext cx="1115568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A202C"/>
                </a:solidFill>
                <a:latin typeface="Calibri"/>
              </a:rPr>
              <a:t>One IP to rule them all: </a:t>
            </a:r>
            <a:r>
              <a:rPr sz="1500" b="1">
                <a:solidFill>
                  <a:srgbClr val="0057B8"/>
                </a:solidFill>
                <a:latin typeface="Calibri"/>
              </a:rPr>
              <a:t>every script imports MOKU_IP from scripts/config.py — edit it once.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535424"/>
            <a:ext cx="146304" cy="146304"/>
          </a:xfrm>
          <a:prstGeom prst="roundRect">
            <a:avLst>
              <a:gd name="adj" fmla="val 8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528" y="4434840"/>
            <a:ext cx="10680192" cy="64922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Connection refused? Same Wi-Fi network as the Moku:Go, IP correct in config.py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956048"/>
            <a:ext cx="146304" cy="146304"/>
          </a:xfrm>
          <a:prstGeom prst="roundRect">
            <a:avLst>
              <a:gd name="adj" fmla="val 8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8" y="4855464"/>
            <a:ext cx="10680192" cy="64922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Device busy? force_connect=True (already set in config) or wait ~60 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376672"/>
            <a:ext cx="146304" cy="146304"/>
          </a:xfrm>
          <a:prstGeom prst="roundRect">
            <a:avLst>
              <a:gd name="adj" fmla="val 8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8" y="5276088"/>
            <a:ext cx="10680192" cy="64922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Stuck? Raise your hand — we fix connections before moving 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057B8"/>
                </a:solidFill>
                <a:latin typeface="Calibri"/>
              </a:rPr>
              <a:t>The Core Automation Pattern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A6B7B"/>
                </a:solidFill>
                <a:latin typeface="Calibri"/>
              </a:rPr>
              <a:t>Every script this week follows the same four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79108"/>
            <a:ext cx="6400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5-Day SDI Lab Automation FDP  •  v2.0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6579108"/>
            <a:ext cx="4572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Powered by Moku:Go — Liquid Instruments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37360"/>
            <a:ext cx="2487853" cy="173736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057B8"/>
                </a:solidFill>
                <a:latin typeface="Calibri"/>
              </a:rPr>
              <a:t>CONNECT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Oscilloscope(MOKU_IP,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force_connect=True)</a:t>
            </a:r>
          </a:p>
        </p:txBody>
      </p:sp>
      <p:sp>
        <p:nvSpPr>
          <p:cNvPr id="8" name="Oval 7"/>
          <p:cNvSpPr/>
          <p:nvPr/>
        </p:nvSpPr>
        <p:spPr>
          <a:xfrm>
            <a:off x="1563966" y="1554480"/>
            <a:ext cx="365760" cy="365760"/>
          </a:xfrm>
          <a:prstGeom prst="ellipse">
            <a:avLst/>
          </a:prstGeom>
          <a:solidFill>
            <a:srgbClr val="FF6B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027349" y="2496312"/>
            <a:ext cx="338328" cy="219456"/>
          </a:xfrm>
          <a:prstGeom prst="rightArrow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02253" y="1737360"/>
            <a:ext cx="2487853" cy="173736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057B8"/>
                </a:solidFill>
                <a:latin typeface="Calibri"/>
              </a:rPr>
              <a:t>CONFIGURE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set_frontend()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set_timebase()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set_trigger()</a:t>
            </a:r>
          </a:p>
        </p:txBody>
      </p:sp>
      <p:sp>
        <p:nvSpPr>
          <p:cNvPr id="11" name="Oval 10"/>
          <p:cNvSpPr/>
          <p:nvPr/>
        </p:nvSpPr>
        <p:spPr>
          <a:xfrm>
            <a:off x="4463299" y="1554480"/>
            <a:ext cx="365760" cy="365760"/>
          </a:xfrm>
          <a:prstGeom prst="ellipse">
            <a:avLst/>
          </a:prstGeom>
          <a:solidFill>
            <a:srgbClr val="FF6B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26683" y="2496312"/>
            <a:ext cx="338328" cy="219456"/>
          </a:xfrm>
          <a:prstGeom prst="rightArrow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1587" y="1737360"/>
            <a:ext cx="2487853" cy="173736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057B8"/>
                </a:solidFill>
                <a:latin typeface="Calibri"/>
              </a:rPr>
              <a:t>ACQUIRE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get_data()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dict of lists: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'time','ch1','ch2'</a:t>
            </a:r>
          </a:p>
        </p:txBody>
      </p:sp>
      <p:sp>
        <p:nvSpPr>
          <p:cNvPr id="14" name="Oval 13"/>
          <p:cNvSpPr/>
          <p:nvPr/>
        </p:nvSpPr>
        <p:spPr>
          <a:xfrm>
            <a:off x="7362633" y="1554480"/>
            <a:ext cx="365760" cy="365760"/>
          </a:xfrm>
          <a:prstGeom prst="ellipse">
            <a:avLst/>
          </a:prstGeom>
          <a:solidFill>
            <a:srgbClr val="FF6B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826017" y="2496312"/>
            <a:ext cx="338328" cy="219456"/>
          </a:xfrm>
          <a:prstGeom prst="rightArrow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200921" y="1737360"/>
            <a:ext cx="2487853" cy="173736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057B8"/>
                </a:solidFill>
                <a:latin typeface="Calibri"/>
              </a:rPr>
              <a:t>CLEANUP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relinquish_ownership()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in a finally block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ALWAYS</a:t>
            </a:r>
          </a:p>
        </p:txBody>
      </p:sp>
      <p:sp>
        <p:nvSpPr>
          <p:cNvPr id="17" name="Oval 16"/>
          <p:cNvSpPr/>
          <p:nvPr/>
        </p:nvSpPr>
        <p:spPr>
          <a:xfrm>
            <a:off x="10261967" y="1554480"/>
            <a:ext cx="365760" cy="365760"/>
          </a:xfrm>
          <a:prstGeom prst="ellipse">
            <a:avLst/>
          </a:prstGeom>
          <a:solidFill>
            <a:srgbClr val="FF6B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114800"/>
            <a:ext cx="1115568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A202C"/>
                </a:solidFill>
                <a:latin typeface="Calibri"/>
              </a:rPr>
              <a:t>Skip CLEANUP and the device stays locked for the next connection. </a:t>
            </a:r>
            <a:r>
              <a:rPr sz="1500" b="1">
                <a:solidFill>
                  <a:srgbClr val="FF6B35"/>
                </a:solidFill>
                <a:latin typeface="Calibri"/>
              </a:rPr>
              <a:t>try / finally is not optional.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057B8"/>
                </a:solidFill>
                <a:latin typeface="Calibri"/>
              </a:rPr>
              <a:t>Oscilloscope Automation — Live 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79108"/>
            <a:ext cx="6400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5-Day SDI Lab Automation FDP  •  v2.0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6579108"/>
            <a:ext cx="4572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Powered by Moku:Go — Liquid Instruments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6949440" cy="4709160"/>
          </a:xfrm>
          <a:prstGeom prst="roundRect">
            <a:avLst>
              <a:gd name="adj" fmla="val 4000"/>
            </a:avLst>
          </a:prstGeom>
          <a:solidFill>
            <a:srgbClr val="142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from moku.instruments import Oscilloscope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from config import MOKU_IP, FORCE_CONNECT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osc = Oscilloscope(MOKU_IP, force_connect=FORCE_CONNECT)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try: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osc.set_frontend(channel=1, impedance='1MOhm',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                 coupling='DC', range='10Vpp')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osc.generate_waveform(1, 'Sine',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                      amplitude=0.5, frequency=1e3)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osc.set_timebase(-5e-3, 5e-3)          # +/- 5 ms window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osc.set_trigger(type='Edge',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                source='Input1', level=0)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data = osc.get_data()      # Python LISTS, not numpy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ch1 = data['ch1']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vpp = max(ch1) - min(ch1)  # list ops work directly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print(f'Vpp = {vpp:.4f} V')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finally: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osc.relinquish_ownership()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089904"/>
            <a:ext cx="694944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A6B7B"/>
                </a:solidFill>
                <a:latin typeface="Calibri"/>
              </a:rPr>
              <a:t>day1/ex1_1_oscilloscope_logging.py (excerpt) — loopback Output 1 -&gt; Input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1325880"/>
            <a:ext cx="3977639" cy="1389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0" y="1325880"/>
            <a:ext cx="3977639" cy="420624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get_data() returns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0" y="1636776"/>
            <a:ext cx="3977639" cy="1097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54112" y="1819656"/>
            <a:ext cx="3831335" cy="8229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dict with 'time', 'ch1', 'ch2'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as plain Python lists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np.array() before numpy math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0" y="2880360"/>
            <a:ext cx="3977639" cy="11521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680960" y="2880360"/>
            <a:ext cx="3977639" cy="420624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API mirrors the GUI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80960" y="3191256"/>
            <a:ext cx="3977639" cy="1097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4112" y="3374136"/>
            <a:ext cx="3831335" cy="585216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Every knob you turn in the app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is a method call in Python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80960" y="4197096"/>
            <a:ext cx="3977639" cy="1389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80960" y="4197096"/>
            <a:ext cx="3977639" cy="420624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Watch the demo for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80960" y="4507992"/>
            <a:ext cx="3977639" cy="1097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54112" y="4690872"/>
            <a:ext cx="3831335" cy="8229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set_timebase units (seconds)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trigger level in volts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the finally block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057B8"/>
                </a:solidFill>
                <a:latin typeface="Calibri"/>
              </a:rPr>
              <a:t>Exercise 1.1 — Oscilloscope Data Logging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A6B7B"/>
                </a:solidFill>
                <a:latin typeface="Calibri"/>
              </a:rPr>
              <a:t>30 minutes  •  workbook section 2  •  day1/ex1_1_oscilloscope_logging.py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79108"/>
            <a:ext cx="6400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5-Day SDI Lab Automation FDP  •  v2.0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6579108"/>
            <a:ext cx="4572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Powered by Moku:Go — Liquid Instruments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71600"/>
            <a:ext cx="5478627" cy="22631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478627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Your Mission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82496"/>
            <a:ext cx="5478627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65376"/>
            <a:ext cx="5332323" cy="16962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Capture 10 frames automatically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Save each frame to its own CSV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Print Vpp / Vmin / Vmax per frame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Generate the summary plot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147" y="1371600"/>
            <a:ext cx="5478627" cy="22631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0147" y="1371600"/>
            <a:ext cx="5478627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Setup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0147" y="1682496"/>
            <a:ext cx="5478627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83299" y="1865376"/>
            <a:ext cx="5332323" cy="16962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BNC loopback: Output 1 -&gt; Input 1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Timebase ±5 ms, edge trigger at 0 V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1 kHz, 0.5 Vpp built-in test signal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863340"/>
            <a:ext cx="5478627" cy="22631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863340"/>
            <a:ext cx="5478627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Success Looks Like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174236"/>
            <a:ext cx="5478627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4357116"/>
            <a:ext cx="5332323" cy="16962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frame_01.csv … frame_10.csv on disk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oscilloscope_summary.png matches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expected_outputs/ex1_1_expected.png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Vpp stable across all 10 frames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0147" y="3863340"/>
            <a:ext cx="5478627" cy="22631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10147" y="3863340"/>
            <a:ext cx="5478627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Finished Early?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0147" y="4174236"/>
            <a:ext cx="5478627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83299" y="4357116"/>
            <a:ext cx="5332323" cy="16962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Add mean &amp; std-dev to the printout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Plot ±3σ control limits (SPC)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Flag frames outside the limits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057B8"/>
                </a:solidFill>
                <a:latin typeface="Calibri"/>
              </a:rPr>
              <a:t>Waveform Generator Automation — Live 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79108"/>
            <a:ext cx="6400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5-Day SDI Lab Automation FDP  •  v2.0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6579108"/>
            <a:ext cx="4572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Powered by Moku:Go — Liquid Instruments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6949440" cy="4709160"/>
          </a:xfrm>
          <a:prstGeom prst="roundRect">
            <a:avLst>
              <a:gd name="adj" fmla="val 4000"/>
            </a:avLst>
          </a:prstGeom>
          <a:solidFill>
            <a:srgbClr val="142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from moku.instruments import WaveformGenerator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from config import MOKU_IP, FORCE_CONNECT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wg = WaveformGenerator(MOKU_IP, force_connect=FORCE_CONNECT)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try: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# one waveform, three lines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wg.generate_waveform(channel=1, type='Sine',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                     amplitude=1.0, frequency=1000)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# automation = the same call in a loop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for freq in [100, 1000, 10000, 100000]: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    wg.generate_waveform(channel=1, type='Sine',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                         amplitude=1.0, frequency=freq)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    print(f'{freq:&gt;7} Hz')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    time.sleep(0.5)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# Square needs duty=, Ramp needs symmetry=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wg.generate_waveform(channel=1, type='Square',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                     amplitude=2.0, frequency=5000,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                     duty=30)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finally: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wg.relinquish_ownership()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089904"/>
            <a:ext cx="694944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A6B7B"/>
                </a:solidFill>
                <a:latin typeface="Calibri"/>
              </a:rPr>
              <a:t>day1/ex1_2_waveform_generator_sweep.py (excerpt)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1325880"/>
            <a:ext cx="3977639" cy="11521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0" y="1325880"/>
            <a:ext cx="3977639" cy="420624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The stimulus side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0" y="1636776"/>
            <a:ext cx="3977639" cy="1097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54112" y="1819656"/>
            <a:ext cx="3831335" cy="585216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WG generates, scope measures —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together: stimulus-response testing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0" y="2642616"/>
            <a:ext cx="3977639" cy="1389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680960" y="2642616"/>
            <a:ext cx="3977639" cy="420624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Waveform types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80960" y="2953512"/>
            <a:ext cx="3977639" cy="1097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4112" y="3136392"/>
            <a:ext cx="3831335" cy="8229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'Sine', 'Square', 'Ramp',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'Triangle', 'Pulse', 'DC'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Square/Pulse: duty=  Ramp: symmetry=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80960" y="4197096"/>
            <a:ext cx="3977639" cy="11521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80960" y="4197096"/>
            <a:ext cx="3977639" cy="420624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21 manual steps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80960" y="4507992"/>
            <a:ext cx="3977639" cy="1097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54112" y="4690872"/>
            <a:ext cx="3831335" cy="585216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become a 3-line loop —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this is the whole idea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057B8"/>
                </a:solidFill>
                <a:latin typeface="Calibri"/>
              </a:rPr>
              <a:t>Exercise 1.2 — Automated Waveform Test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A6B7B"/>
                </a:solidFill>
                <a:latin typeface="Calibri"/>
              </a:rPr>
              <a:t>30 minutes  •  day1/ex1_2_waveform_generator_sweep.py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79108"/>
            <a:ext cx="6400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5-Day SDI Lab Automation FDP  •  v2.0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6579108"/>
            <a:ext cx="4572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Powered by Moku:Go — Liquid Instruments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71600"/>
            <a:ext cx="5478627" cy="22631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478627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Test Matrix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82496"/>
            <a:ext cx="5478627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65376"/>
            <a:ext cx="5332323" cy="16962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7 frequencies: 100 Hz – 100 kHz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3 waveforms: Sine, Square, Ramp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= 21 combinations, logged to CSV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147" y="1371600"/>
            <a:ext cx="5478627" cy="22631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0147" y="1371600"/>
            <a:ext cx="5478627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Measure Efficiency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0147" y="1682496"/>
            <a:ext cx="5478627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83299" y="1865376"/>
            <a:ext cx="5332323" cy="16962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Script times itself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vs ~30 s per manual change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Typical result: 10–30× faster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863340"/>
            <a:ext cx="5478627" cy="22631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863340"/>
            <a:ext cx="5478627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Deliverables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174236"/>
            <a:ext cx="5478627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4357116"/>
            <a:ext cx="5332323" cy="16962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wg_sweep_log.csv with timestamps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Efficiency report in the console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Share your × number with the class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0147" y="3863340"/>
            <a:ext cx="5478627" cy="22631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10147" y="3863340"/>
            <a:ext cx="5478627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Finished Early?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0147" y="4174236"/>
            <a:ext cx="5478627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83299" y="4357116"/>
            <a:ext cx="5332323" cy="16962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Add amplitude sweep 0.1 – 2.0 V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Recompute total tests &amp; time saved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Try combining osc + wg: self-test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057B8"/>
                </a:solidFill>
                <a:latin typeface="Calibri"/>
              </a:rPr>
              <a:t>Code Review &amp; Best Practices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A6B7B"/>
                </a:solidFill>
                <a:latin typeface="Calibri"/>
              </a:rPr>
              <a:t>Afternoon session — bring your Exercise 1.1 / 1.2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79108"/>
            <a:ext cx="6400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5-Day SDI Lab Automation FDP  •  v2.0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6579108"/>
            <a:ext cx="4572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Powered by Moku:Go — Liquid Instruments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71600"/>
            <a:ext cx="3576218" cy="22631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3576218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Organization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82496"/>
            <a:ext cx="3576218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65376"/>
            <a:ext cx="3429914" cy="16962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Imports at top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Config constants next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Functions for reuse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Main logic at the bottom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7738" y="1371600"/>
            <a:ext cx="3576218" cy="22631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07738" y="1371600"/>
            <a:ext cx="3576218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Error Handling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07738" y="1682496"/>
            <a:ext cx="3576218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0890" y="1865376"/>
            <a:ext cx="3429914" cy="16962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try / except / finally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Cleanup ALWAYS in finally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Print errors, don't swallow them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2556" y="1371600"/>
            <a:ext cx="3576218" cy="22631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12556" y="1371600"/>
            <a:ext cx="3576218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Data Management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2556" y="1682496"/>
            <a:ext cx="3576218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5708" y="1865376"/>
            <a:ext cx="3429914" cy="16962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CSV with header rows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Consistent file naming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Timestamps in logs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863340"/>
            <a:ext cx="3576218" cy="22631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3863340"/>
            <a:ext cx="3576218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Plot Quality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174236"/>
            <a:ext cx="3576218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4357116"/>
            <a:ext cx="3429914" cy="16962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Axis labels with units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Titles and grids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dpi=150 for reports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07738" y="3863340"/>
            <a:ext cx="3576218" cy="22631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307738" y="3863340"/>
            <a:ext cx="3576218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Efficiency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07738" y="4174236"/>
            <a:ext cx="3576218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0890" y="4357116"/>
            <a:ext cx="3429914" cy="16962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Minimal sleep times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Save incrementally on long runs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Settle ≥ 50 ms after waveform change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12556" y="3863340"/>
            <a:ext cx="3576218" cy="22631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12556" y="3863340"/>
            <a:ext cx="3576218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Reuse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12556" y="4174236"/>
            <a:ext cx="3576218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85708" y="4357116"/>
            <a:ext cx="3429914" cy="16962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config.py for shared constants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One pattern, many experiments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Your scripts become templates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48640"/>
            <a:ext cx="10515600" cy="8229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Day 1 Complete!</a:t>
            </a:r>
          </a:p>
        </p:txBody>
      </p:sp>
      <p:sp>
        <p:nvSpPr>
          <p:cNvPr id="5" name="Oval 4"/>
          <p:cNvSpPr/>
          <p:nvPr/>
        </p:nvSpPr>
        <p:spPr>
          <a:xfrm>
            <a:off x="850392" y="1618488"/>
            <a:ext cx="310896" cy="310896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591056"/>
            <a:ext cx="98755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Set up the Python + Moku:Go development environment</a:t>
            </a:r>
          </a:p>
        </p:txBody>
      </p:sp>
      <p:sp>
        <p:nvSpPr>
          <p:cNvPr id="7" name="Oval 6"/>
          <p:cNvSpPr/>
          <p:nvPr/>
        </p:nvSpPr>
        <p:spPr>
          <a:xfrm>
            <a:off x="850392" y="2112264"/>
            <a:ext cx="310896" cy="310896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084832"/>
            <a:ext cx="98755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Learned the Connect -&gt; Configure -&gt; Acquire -&gt; Cleanup pattern</a:t>
            </a:r>
          </a:p>
        </p:txBody>
      </p:sp>
      <p:sp>
        <p:nvSpPr>
          <p:cNvPr id="9" name="Oval 8"/>
          <p:cNvSpPr/>
          <p:nvPr/>
        </p:nvSpPr>
        <p:spPr>
          <a:xfrm>
            <a:off x="850392" y="2606040"/>
            <a:ext cx="310896" cy="310896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578608"/>
            <a:ext cx="98755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Automated Oscilloscope capture with CSV logging and statistics</a:t>
            </a:r>
          </a:p>
        </p:txBody>
      </p:sp>
      <p:sp>
        <p:nvSpPr>
          <p:cNvPr id="11" name="Oval 10"/>
          <p:cNvSpPr/>
          <p:nvPr/>
        </p:nvSpPr>
        <p:spPr>
          <a:xfrm>
            <a:off x="850392" y="3099816"/>
            <a:ext cx="310896" cy="310896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072384"/>
            <a:ext cx="98755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Automated Waveform Generator parametric sweeps</a:t>
            </a:r>
          </a:p>
        </p:txBody>
      </p:sp>
      <p:sp>
        <p:nvSpPr>
          <p:cNvPr id="13" name="Oval 12"/>
          <p:cNvSpPr/>
          <p:nvPr/>
        </p:nvSpPr>
        <p:spPr>
          <a:xfrm>
            <a:off x="850392" y="3593592"/>
            <a:ext cx="310896" cy="310896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566160"/>
            <a:ext cx="98755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Measured your own efficiency gain vs manual operation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43400"/>
            <a:ext cx="10515600" cy="10972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CADCFC"/>
                </a:solidFill>
                <a:latin typeface="Calibri"/>
              </a:rPr>
              <a:t>Tomorrow: the Arbitrary Waveform Generator, the Logic Analyzer, your first capstone — and Multi-Instrument Mode, the most powerful feature of the platform.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Spruha Build-in Solutions  |  Powered by Moku:Go — Liquid Instruments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