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868680"/>
            <a:ext cx="1828800" cy="475488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DAY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8778240" cy="1920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Real-World Applications
&amp; Final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859536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1">
                <a:solidFill>
                  <a:srgbClr val="028090"/>
                </a:solidFill>
                <a:latin typeface="Calibri"/>
              </a:rPr>
              <a:t>"Professional Test Automation in Practice"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8229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6B35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7" name="Oval 6"/>
          <p:cNvSpPr/>
          <p:nvPr/>
        </p:nvSpPr>
        <p:spPr>
          <a:xfrm>
            <a:off x="9701784" y="1014984"/>
            <a:ext cx="713232" cy="71323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ave 7"/>
          <p:cNvSpPr/>
          <p:nvPr/>
        </p:nvSpPr>
        <p:spPr>
          <a:xfrm>
            <a:off x="9880092" y="1193292"/>
            <a:ext cx="356616" cy="356616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99064" y="1655064"/>
            <a:ext cx="713232" cy="713232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ear 6 9"/>
          <p:cNvSpPr/>
          <p:nvPr/>
        </p:nvSpPr>
        <p:spPr>
          <a:xfrm>
            <a:off x="10977372" y="1833372"/>
            <a:ext cx="356616" cy="356616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10344" y="2478024"/>
            <a:ext cx="713232" cy="713232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ightning Bolt 11"/>
          <p:cNvSpPr/>
          <p:nvPr/>
        </p:nvSpPr>
        <p:spPr>
          <a:xfrm>
            <a:off x="9788652" y="2656332"/>
            <a:ext cx="356616" cy="356616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07624" y="3209544"/>
            <a:ext cx="713232" cy="71323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n 13"/>
          <p:cNvSpPr/>
          <p:nvPr/>
        </p:nvSpPr>
        <p:spPr>
          <a:xfrm>
            <a:off x="10885932" y="3387852"/>
            <a:ext cx="356616" cy="356616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94960"/>
            <a:ext cx="96012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Mahaveer. Rajendra. Savanur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Head of Engineering &amp; AI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Spruha Build-in Solutions  |  Powered by Moku:Go — Liquid Instruments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Day 4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4: Real-World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608582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243584" y="1526286"/>
            <a:ext cx="530352" cy="530352"/>
          </a:xfrm>
          <a:prstGeom prst="ellipse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ave 10"/>
          <p:cNvSpPr/>
          <p:nvPr/>
        </p:nvSpPr>
        <p:spPr>
          <a:xfrm>
            <a:off x="1376172" y="1658874"/>
            <a:ext cx="265176" cy="265176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90294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8:00 – 8:20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590294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The Automation Journey —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193036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2448306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1243584" y="2366010"/>
            <a:ext cx="530352" cy="530352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ear 6 16"/>
          <p:cNvSpPr/>
          <p:nvPr/>
        </p:nvSpPr>
        <p:spPr>
          <a:xfrm>
            <a:off x="1376172" y="2498598"/>
            <a:ext cx="265176" cy="265176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2430018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8:20 – 9:15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430018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Day 2 Capstone Presentations</a:t>
            </a:r>
            <a:r>
              <a:rPr sz="1200" b="0">
                <a:solidFill>
                  <a:srgbClr val="5A6B7B"/>
                </a:solidFill>
                <a:latin typeface="Calibri"/>
              </a:rPr>
              <a:t>    5–6 min per team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032760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4360" y="328803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1243584" y="3205734"/>
            <a:ext cx="530352" cy="53035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ightning Bolt 22"/>
          <p:cNvSpPr/>
          <p:nvPr/>
        </p:nvSpPr>
        <p:spPr>
          <a:xfrm>
            <a:off x="1376172" y="3338322"/>
            <a:ext cx="265176" cy="265176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326974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9:30 – 11:00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26974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Industry Case Studies + 5 Automation Patterns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872484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4127754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Oval 27"/>
          <p:cNvSpPr/>
          <p:nvPr/>
        </p:nvSpPr>
        <p:spPr>
          <a:xfrm>
            <a:off x="1243584" y="4045458"/>
            <a:ext cx="530352" cy="530352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n 28"/>
          <p:cNvSpPr/>
          <p:nvPr/>
        </p:nvSpPr>
        <p:spPr>
          <a:xfrm>
            <a:off x="1376172" y="4178046"/>
            <a:ext cx="265176" cy="265176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4109466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11:15 – 12:30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4109466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Final Capstone: Specs &amp; Team Planning</a:t>
            </a:r>
            <a:r>
              <a:rPr sz="1200" b="0">
                <a:solidFill>
                  <a:srgbClr val="5A6B7B"/>
                </a:solidFill>
                <a:latin typeface="Calibri"/>
              </a:rPr>
              <a:t>    choose Option A, B, or 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712208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4360" y="4967478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Oval 33"/>
          <p:cNvSpPr/>
          <p:nvPr/>
        </p:nvSpPr>
        <p:spPr>
          <a:xfrm>
            <a:off x="1243584" y="4885182"/>
            <a:ext cx="530352" cy="530352"/>
          </a:xfrm>
          <a:prstGeom prst="ellipse">
            <a:avLst/>
          </a:prstGeom>
          <a:solidFill>
            <a:srgbClr val="2F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be 34"/>
          <p:cNvSpPr/>
          <p:nvPr/>
        </p:nvSpPr>
        <p:spPr>
          <a:xfrm>
            <a:off x="1376172" y="5017770"/>
            <a:ext cx="265176" cy="265176"/>
          </a:xfrm>
          <a:prstGeom prst="cub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0" y="4949190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1:30 – 3:30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4949190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Final Capstone Implementation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5551932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94360" y="5807202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Oval 39"/>
          <p:cNvSpPr/>
          <p:nvPr/>
        </p:nvSpPr>
        <p:spPr>
          <a:xfrm>
            <a:off x="1243584" y="5724906"/>
            <a:ext cx="530352" cy="530352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ear 9 40"/>
          <p:cNvSpPr/>
          <p:nvPr/>
        </p:nvSpPr>
        <p:spPr>
          <a:xfrm>
            <a:off x="1376172" y="5857494"/>
            <a:ext cx="265176" cy="265176"/>
          </a:xfrm>
          <a:prstGeom prst="gear9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11680" y="5788914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3:45 – 5:00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6200" y="5788914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Final Presentations &amp; Day 4 Close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Automation Journey — 4 Days of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4: Real-World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2508427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3669" y="1545336"/>
            <a:ext cx="566928" cy="566928"/>
          </a:xfrm>
          <a:prstGeom prst="ellipse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ave 10"/>
          <p:cNvSpPr/>
          <p:nvPr/>
        </p:nvSpPr>
        <p:spPr>
          <a:xfrm>
            <a:off x="1615401" y="1687068"/>
            <a:ext cx="283464" cy="283464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" y="2212848"/>
            <a:ext cx="2398699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B2E59"/>
                </a:solidFill>
                <a:latin typeface="Calibri"/>
              </a:rPr>
              <a:t>Day 1: Foundations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Osc + WG, loops,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CSV, matplotlib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47923" y="2208275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5395" y="1371600"/>
            <a:ext cx="2508427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66145" y="1545336"/>
            <a:ext cx="566928" cy="566928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ear 6 16"/>
          <p:cNvSpPr/>
          <p:nvPr/>
        </p:nvSpPr>
        <p:spPr>
          <a:xfrm>
            <a:off x="4507877" y="1687068"/>
            <a:ext cx="283464" cy="283464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0259" y="2212848"/>
            <a:ext cx="2398699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057B8"/>
                </a:solidFill>
                <a:latin typeface="Calibri"/>
              </a:rPr>
              <a:t>Day 2: Integration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AWG, Logic Analyzer,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MiM fundamentals</a:t>
            </a:r>
          </a:p>
        </p:txBody>
      </p:sp>
      <p:sp>
        <p:nvSpPr>
          <p:cNvPr id="19" name="Oval 18"/>
          <p:cNvSpPr/>
          <p:nvPr/>
        </p:nvSpPr>
        <p:spPr>
          <a:xfrm>
            <a:off x="3459403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40399" y="2208275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7871" y="1371600"/>
            <a:ext cx="2508427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58621" y="1545336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ightning Bolt 22"/>
          <p:cNvSpPr/>
          <p:nvPr/>
        </p:nvSpPr>
        <p:spPr>
          <a:xfrm>
            <a:off x="7400353" y="1687068"/>
            <a:ext cx="283464" cy="283464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2735" y="2212848"/>
            <a:ext cx="2398699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Day 3: Advanced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Streaming, FFT,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SNR/THD, capstone</a:t>
            </a:r>
          </a:p>
        </p:txBody>
      </p:sp>
      <p:sp>
        <p:nvSpPr>
          <p:cNvPr id="25" name="Oval 24"/>
          <p:cNvSpPr/>
          <p:nvPr/>
        </p:nvSpPr>
        <p:spPr>
          <a:xfrm>
            <a:off x="6351879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32875" y="2208275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0347" y="1371600"/>
            <a:ext cx="2508427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1097" y="1545336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n 28"/>
          <p:cNvSpPr/>
          <p:nvPr/>
        </p:nvSpPr>
        <p:spPr>
          <a:xfrm>
            <a:off x="10292829" y="1687068"/>
            <a:ext cx="283464" cy="283464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211" y="2212848"/>
            <a:ext cx="2398699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FF6B35"/>
                </a:solidFill>
                <a:latin typeface="Calibri"/>
              </a:rPr>
              <a:t>Day 4: Application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Industry patterns,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final project</a:t>
            </a:r>
          </a:p>
        </p:txBody>
      </p:sp>
      <p:sp>
        <p:nvSpPr>
          <p:cNvPr id="31" name="Oval 30"/>
          <p:cNvSpPr/>
          <p:nvPr/>
        </p:nvSpPr>
        <p:spPr>
          <a:xfrm>
            <a:off x="9244355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657600"/>
            <a:ext cx="2590723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858768"/>
            <a:ext cx="2590723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0B2E59"/>
                </a:solidFill>
                <a:latin typeface="Calibri"/>
              </a:rPr>
              <a:t>15+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681728"/>
            <a:ext cx="2407843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instrument configurations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67963" y="3657600"/>
            <a:ext cx="2590723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67963" y="3858768"/>
            <a:ext cx="2590723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028090"/>
                </a:solidFill>
                <a:latin typeface="Calibri"/>
              </a:rPr>
              <a:t>8+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9403" y="4681728"/>
            <a:ext cx="2407843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guided exercises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33007" y="3657600"/>
            <a:ext cx="2590723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3007" y="3858768"/>
            <a:ext cx="2590723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6B35"/>
                </a:solidFill>
                <a:latin typeface="Calibr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4447" y="4681728"/>
            <a:ext cx="2407843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capstone projects so far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98051" y="3657600"/>
            <a:ext cx="2590723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051" y="3858768"/>
            <a:ext cx="2590723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2F6B46"/>
                </a:solidFill>
                <a:latin typeface="Calibri"/>
              </a:rPr>
              <a:t>500+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491" y="4681728"/>
            <a:ext cx="2407843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lines of Python written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Day 2 Capstone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5–6 minutes per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4: Real-World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192993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4422" y="1636776"/>
            <a:ext cx="566928" cy="566928"/>
          </a:xfrm>
          <a:prstGeom prst="ellipse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ave 11"/>
          <p:cNvSpPr/>
          <p:nvPr/>
        </p:nvSpPr>
        <p:spPr>
          <a:xfrm>
            <a:off x="1326154" y="1778508"/>
            <a:ext cx="283464" cy="283464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304288"/>
            <a:ext cx="1820204" cy="8412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B2E59"/>
                </a:solidFill>
                <a:latin typeface="Calibri"/>
              </a:rPr>
              <a:t>0:30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Problem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statement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152704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69428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16900" y="1463040"/>
            <a:ext cx="192993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98402" y="1636776"/>
            <a:ext cx="566928" cy="566928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ear 6 17"/>
          <p:cNvSpPr/>
          <p:nvPr/>
        </p:nvSpPr>
        <p:spPr>
          <a:xfrm>
            <a:off x="3640134" y="1778508"/>
            <a:ext cx="283464" cy="283464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1764" y="2304288"/>
            <a:ext cx="1820204" cy="8412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057B8"/>
                </a:solidFill>
                <a:latin typeface="Calibri"/>
              </a:rPr>
              <a:t>1:30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Solution approach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MiM routing, code</a:t>
            </a:r>
          </a:p>
        </p:txBody>
      </p:sp>
      <p:sp>
        <p:nvSpPr>
          <p:cNvPr id="20" name="Oval 19"/>
          <p:cNvSpPr/>
          <p:nvPr/>
        </p:nvSpPr>
        <p:spPr>
          <a:xfrm>
            <a:off x="2880908" y="152704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783409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0881" y="1463040"/>
            <a:ext cx="192993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2383" y="1636776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ightning Bolt 23"/>
          <p:cNvSpPr/>
          <p:nvPr/>
        </p:nvSpPr>
        <p:spPr>
          <a:xfrm>
            <a:off x="5954115" y="1778508"/>
            <a:ext cx="283464" cy="283464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5745" y="2304288"/>
            <a:ext cx="1820204" cy="8412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2:30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LIVE DEMO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real data appearing</a:t>
            </a:r>
          </a:p>
        </p:txBody>
      </p:sp>
      <p:sp>
        <p:nvSpPr>
          <p:cNvPr id="26" name="Oval 25"/>
          <p:cNvSpPr/>
          <p:nvPr/>
        </p:nvSpPr>
        <p:spPr>
          <a:xfrm>
            <a:off x="5194889" y="152704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97389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44861" y="1463040"/>
            <a:ext cx="192993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26364" y="1636776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n 29"/>
          <p:cNvSpPr/>
          <p:nvPr/>
        </p:nvSpPr>
        <p:spPr>
          <a:xfrm>
            <a:off x="8268096" y="1778508"/>
            <a:ext cx="283464" cy="283464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9725" y="2304288"/>
            <a:ext cx="1820204" cy="8412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FF6B35"/>
                </a:solidFill>
                <a:latin typeface="Calibri"/>
              </a:rPr>
              <a:t>1:00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Results &amp;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time savings</a:t>
            </a:r>
          </a:p>
        </p:txBody>
      </p:sp>
      <p:sp>
        <p:nvSpPr>
          <p:cNvPr id="32" name="Oval 31"/>
          <p:cNvSpPr/>
          <p:nvPr/>
        </p:nvSpPr>
        <p:spPr>
          <a:xfrm>
            <a:off x="7508869" y="152704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411370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58842" y="1463040"/>
            <a:ext cx="192993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40344" y="1636776"/>
            <a:ext cx="566928" cy="566928"/>
          </a:xfrm>
          <a:prstGeom prst="ellipse">
            <a:avLst/>
          </a:prstGeom>
          <a:solidFill>
            <a:srgbClr val="2F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be 35"/>
          <p:cNvSpPr/>
          <p:nvPr/>
        </p:nvSpPr>
        <p:spPr>
          <a:xfrm>
            <a:off x="10582076" y="1778508"/>
            <a:ext cx="283464" cy="283464"/>
          </a:xfrm>
          <a:prstGeom prst="cub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13706" y="2304288"/>
            <a:ext cx="1820204" cy="8412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2F6B46"/>
                </a:solidFill>
                <a:latin typeface="Calibri"/>
              </a:rPr>
              <a:t>0:30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Q&amp;A</a:t>
            </a:r>
          </a:p>
        </p:txBody>
      </p:sp>
      <p:sp>
        <p:nvSpPr>
          <p:cNvPr id="38" name="Oval 37"/>
          <p:cNvSpPr/>
          <p:nvPr/>
        </p:nvSpPr>
        <p:spPr>
          <a:xfrm>
            <a:off x="9822850" y="152704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Oval 38"/>
          <p:cNvSpPr/>
          <p:nvPr/>
        </p:nvSpPr>
        <p:spPr>
          <a:xfrm>
            <a:off x="566928" y="364388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" y="3630168"/>
            <a:ext cx="1058875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Evaluation: Functionality 35% • Code 20% • Analysis 15% • Time savings 15% • Presentation 15%</a:t>
            </a:r>
          </a:p>
        </p:txBody>
      </p:sp>
      <p:sp>
        <p:nvSpPr>
          <p:cNvPr id="41" name="Oval 40"/>
          <p:cNvSpPr/>
          <p:nvPr/>
        </p:nvSpPr>
        <p:spPr>
          <a:xfrm>
            <a:off x="566928" y="4064508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" y="4050792"/>
            <a:ext cx="1058875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Listeners: note one technique from another team you want to steal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Industry Case Studies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4: Real-World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355793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355793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Production Line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920240"/>
            <a:ext cx="3338474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200 boards/day, manual = 26.7 worker-hrs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Automated: 90 s per board, pass/fail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83% time cut, $100k+ saved/year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"Automation made production possible"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6882" y="1371600"/>
            <a:ext cx="355793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6882" y="1371600"/>
            <a:ext cx="3557930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Research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6610" y="1920240"/>
            <a:ext cx="3338474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PhD needs 48-hour continuous monitoring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Impossible manually — trivial streaming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Complete dataset, zero gaps, alerts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"Enables impossible experiments"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0844" y="1371600"/>
            <a:ext cx="355793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0844" y="1371600"/>
            <a:ext cx="3557930" cy="4572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Teaching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0572" y="1920240"/>
            <a:ext cx="3338474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60 students, RC filter Bode plot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Manual: 2.5 h of knob-turning each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Automated: 10 min, rest is analysis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"Students do engineering, not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equipment operation"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5 Industry Automation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These cover ~90% of test automation you will meet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4: Real-World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3557930" cy="21579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355793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1. Parameter Sweep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920240"/>
            <a:ext cx="3338474" cy="15179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Vary one input, measure response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Bode plots, V-I curves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6882" y="1371600"/>
            <a:ext cx="3557930" cy="21579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6882" y="1371600"/>
            <a:ext cx="355793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2. Pass / Fail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6610" y="1920240"/>
            <a:ext cx="3338474" cy="15179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Compare against spec limits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QC, go/no-go, certificates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0844" y="1371600"/>
            <a:ext cx="3557930" cy="21579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0844" y="1371600"/>
            <a:ext cx="3557930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3. Continuous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0572" y="1920240"/>
            <a:ext cx="3338474" cy="15179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Stream + alert on thresholds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Environmental, burn-in, drift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85616"/>
            <a:ext cx="3557930" cy="21579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85616"/>
            <a:ext cx="3557930" cy="457200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4. Calibration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334256"/>
            <a:ext cx="3338474" cy="15179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Known input → correction factor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Sensor cal, zeroing, alignment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6882" y="3785616"/>
            <a:ext cx="3557930" cy="21579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6882" y="3785616"/>
            <a:ext cx="3557930" cy="457200"/>
          </a:xfrm>
          <a:prstGeom prst="rect">
            <a:avLst/>
          </a:prstGeom>
          <a:solidFill>
            <a:srgbClr val="2F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5. Batch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6610" y="4334256"/>
            <a:ext cx="3338474" cy="15179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Same sequence, N devices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Production runs, lab groups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0844" y="3785616"/>
            <a:ext cx="3557930" cy="21579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0844" y="3785616"/>
            <a:ext cx="3557930" cy="4572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0572" y="4334256"/>
            <a:ext cx="3338474" cy="15179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Real systems combine patterns: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your capstone uses at least two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Pattern Matching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30 minutes • teams • workbook section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4: Real-World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3557930" cy="188366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355793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Scenario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920240"/>
            <a:ext cx="3338474" cy="12435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Sort 200 resistors into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1% / 5% / 10% bins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6882" y="1371600"/>
            <a:ext cx="3557930" cy="188366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6882" y="1371600"/>
            <a:ext cx="3557930" cy="457200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Scenario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6610" y="1920240"/>
            <a:ext cx="3338474" cy="12435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Track power supply drift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over 48 hours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0844" y="1371600"/>
            <a:ext cx="3557930" cy="188366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0844" y="1371600"/>
            <a:ext cx="3557930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Scenario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0572" y="1920240"/>
            <a:ext cx="3338474" cy="12435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Amplifier gain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10 Hz – 100 kHz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11296"/>
            <a:ext cx="3557930" cy="188366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511296"/>
            <a:ext cx="3557930" cy="457200"/>
          </a:xfrm>
          <a:prstGeom prst="rect">
            <a:avLst/>
          </a:prstGeom>
          <a:solidFill>
            <a:srgbClr val="2F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Scenario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059936"/>
            <a:ext cx="3338474" cy="12435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Correct temp sensor offset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via ice-bath reference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6882" y="3511296"/>
            <a:ext cx="3557930" cy="188366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6882" y="3511296"/>
            <a:ext cx="355793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Scenario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6610" y="4059936"/>
            <a:ext cx="3338474" cy="12435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Verify 50 PCBs meet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voltage-regulation spec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0844" y="3511296"/>
            <a:ext cx="3557930" cy="188366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0844" y="3511296"/>
            <a:ext cx="3557930" cy="4572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Then discuss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0572" y="4059936"/>
            <a:ext cx="3338474" cy="12435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Which pattern(s) fit YOUR lab's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most common measurement?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57B8"/>
                </a:solidFill>
                <a:latin typeface="Calibri"/>
              </a:rPr>
              <a:t>Most scenarios need MORE than one pattern — say which and why.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Final Capstone — Choose Your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All three ship as complete scripts in scripts/day4/ — extend, don't start from zero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4: Real-World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55793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3557930" cy="74980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Option A
Component Characterization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258568"/>
            <a:ext cx="3338474" cy="318211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MiM: WG + Oscilloscope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Sweep 10 Hz–100 kHz, 30 points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Gain, −3 dB cutoff, roll-off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Bode plot + datasheet report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Manual ~40 min → goal &lt; 5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6882" y="1417320"/>
            <a:ext cx="355793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6882" y="1417320"/>
            <a:ext cx="3557930" cy="74980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Option B
Signal Quality 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6610" y="2258568"/>
            <a:ext cx="3338474" cy="318211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Datalogger streaming, 10+ min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Mean / std / Vpp / outliers live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Alert thresholds + alert log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CSV + monitoring report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Manual: impossible → unattended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0844" y="1417320"/>
            <a:ext cx="355793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0844" y="1417320"/>
            <a:ext cx="3557930" cy="74980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Option C
Production Tester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0572" y="2258568"/>
            <a:ext cx="3338474" cy="318211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Oscilloscope + FFT analysis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1 MHz ±1%, ≥0.8 Vpp, ≤5% THD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PASS/FAIL per unit + certificate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Batch summary CSV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Calibri"/>
              </a:rPr>
              <a:t>Manual 8 min/unit → goal &lt; 90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6B35"/>
                </a:solidFill>
                <a:latin typeface="Calibri"/>
              </a:rPr>
              <a:t>Difficulty: </a:t>
            </a:r>
            <a:r>
              <a:rPr sz="1400" b="0">
                <a:solidFill>
                  <a:srgbClr val="1A202C"/>
                </a:solidFill>
                <a:latin typeface="Calibri"/>
              </a:rPr>
              <a:t>A — solid start • B — intermediate • C — advanced.   Rubric: Automation 50 • Technical 30 • Documentation 20 (+10 bonus)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Final Capstone — Development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120 minutes — checkpoint with the trainer at 2:30 PM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4: Real-World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1929932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4422" y="1545336"/>
            <a:ext cx="566928" cy="566928"/>
          </a:xfrm>
          <a:prstGeom prst="ellipse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ave 11"/>
          <p:cNvSpPr/>
          <p:nvPr/>
        </p:nvSpPr>
        <p:spPr>
          <a:xfrm>
            <a:off x="1326154" y="1687068"/>
            <a:ext cx="283464" cy="283464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212848"/>
            <a:ext cx="1820204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B2E59"/>
                </a:solidFill>
                <a:latin typeface="Calibri"/>
              </a:rPr>
              <a:t>Phase 1 · 20 min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Connect &amp; configure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verify hardware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69428" y="2208275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16900" y="1371600"/>
            <a:ext cx="1929932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98402" y="1545336"/>
            <a:ext cx="566928" cy="566928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ear 6 17"/>
          <p:cNvSpPr/>
          <p:nvPr/>
        </p:nvSpPr>
        <p:spPr>
          <a:xfrm>
            <a:off x="3640134" y="1687068"/>
            <a:ext cx="283464" cy="283464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1764" y="2212848"/>
            <a:ext cx="1820204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057B8"/>
                </a:solidFill>
                <a:latin typeface="Calibri"/>
              </a:rPr>
              <a:t>Phase 2 · 40 min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Core automation loop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data end-to-end</a:t>
            </a:r>
          </a:p>
        </p:txBody>
      </p:sp>
      <p:sp>
        <p:nvSpPr>
          <p:cNvPr id="20" name="Oval 19"/>
          <p:cNvSpPr/>
          <p:nvPr/>
        </p:nvSpPr>
        <p:spPr>
          <a:xfrm>
            <a:off x="2880908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783409" y="2208275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0881" y="1371600"/>
            <a:ext cx="1929932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2383" y="1545336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ightning Bolt 23"/>
          <p:cNvSpPr/>
          <p:nvPr/>
        </p:nvSpPr>
        <p:spPr>
          <a:xfrm>
            <a:off x="5954115" y="1687068"/>
            <a:ext cx="283464" cy="283464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5745" y="2212848"/>
            <a:ext cx="1820204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Phase 3 · 30 min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Analysis &amp; metrics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derived quantities</a:t>
            </a:r>
          </a:p>
        </p:txBody>
      </p:sp>
      <p:sp>
        <p:nvSpPr>
          <p:cNvPr id="26" name="Oval 25"/>
          <p:cNvSpPr/>
          <p:nvPr/>
        </p:nvSpPr>
        <p:spPr>
          <a:xfrm>
            <a:off x="5194889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97389" y="2208275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44861" y="1371600"/>
            <a:ext cx="1929932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26364" y="1545336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n 29"/>
          <p:cNvSpPr/>
          <p:nvPr/>
        </p:nvSpPr>
        <p:spPr>
          <a:xfrm>
            <a:off x="8268096" y="1687068"/>
            <a:ext cx="283464" cy="283464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9725" y="2212848"/>
            <a:ext cx="1820204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FF6B35"/>
                </a:solidFill>
                <a:latin typeface="Calibri"/>
              </a:rPr>
              <a:t>Phase 4 · 20 min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Reports: CSV, plot,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text summary</a:t>
            </a:r>
          </a:p>
        </p:txBody>
      </p:sp>
      <p:sp>
        <p:nvSpPr>
          <p:cNvPr id="32" name="Oval 31"/>
          <p:cNvSpPr/>
          <p:nvPr/>
        </p:nvSpPr>
        <p:spPr>
          <a:xfrm>
            <a:off x="7508869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411370" y="2208275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58842" y="1371600"/>
            <a:ext cx="1929932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40344" y="1545336"/>
            <a:ext cx="566928" cy="566928"/>
          </a:xfrm>
          <a:prstGeom prst="ellipse">
            <a:avLst/>
          </a:prstGeom>
          <a:solidFill>
            <a:srgbClr val="2F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be 35"/>
          <p:cNvSpPr/>
          <p:nvPr/>
        </p:nvSpPr>
        <p:spPr>
          <a:xfrm>
            <a:off x="10582076" y="1687068"/>
            <a:ext cx="283464" cy="283464"/>
          </a:xfrm>
          <a:prstGeom prst="cub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13706" y="2212848"/>
            <a:ext cx="1820204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2F6B46"/>
                </a:solidFill>
                <a:latin typeface="Calibri"/>
              </a:rPr>
              <a:t>Phase 5 · 10 min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End-to-end test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error handling</a:t>
            </a:r>
          </a:p>
        </p:txBody>
      </p:sp>
      <p:sp>
        <p:nvSpPr>
          <p:cNvPr id="38" name="Oval 37"/>
          <p:cNvSpPr/>
          <p:nvPr/>
        </p:nvSpPr>
        <p:spPr>
          <a:xfrm>
            <a:off x="9822850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611880"/>
            <a:ext cx="2604439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3611880"/>
            <a:ext cx="2604439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Can't connect?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" y="4160520"/>
            <a:ext cx="2384983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Calibri"/>
              </a:rPr>
              <a:t>force_connect=True;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Calibri"/>
              </a:rPr>
              <a:t>check config.py IP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63391" y="3611880"/>
            <a:ext cx="2604439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63391" y="3611880"/>
            <a:ext cx="2604439" cy="4572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Data looks wrong?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3119" y="4160520"/>
            <a:ext cx="2384983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Calibri"/>
              </a:rPr>
              <a:t>time.sleep(0.1) after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Calibri"/>
              </a:rPr>
              <a:t>settings change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23863" y="3611880"/>
            <a:ext cx="2604439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23863" y="3611880"/>
            <a:ext cx="2604439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Code crashes?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3591" y="4160520"/>
            <a:ext cx="2384983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Calibri"/>
              </a:rPr>
              <a:t>try/except with cleanup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Calibri"/>
              </a:rPr>
              <a:t>in finally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84335" y="3611880"/>
            <a:ext cx="2604439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84335" y="3611880"/>
            <a:ext cx="2604439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Behind at 2:30?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94063" y="4160520"/>
            <a:ext cx="2384983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Calibri"/>
              </a:rPr>
              <a:t>Cut bonus features,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Calibri"/>
              </a:rPr>
              <a:t>nail the core loop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Final Presentations — 3 Minutes Per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Strictly timed — practice once before you present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4: Real-World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3472586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55749" y="1636776"/>
            <a:ext cx="566928" cy="566928"/>
          </a:xfrm>
          <a:prstGeom prst="ellipse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ave 11"/>
          <p:cNvSpPr/>
          <p:nvPr/>
        </p:nvSpPr>
        <p:spPr>
          <a:xfrm>
            <a:off x="2097481" y="1778508"/>
            <a:ext cx="283464" cy="283464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304288"/>
            <a:ext cx="3362858" cy="88696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B2E59"/>
                </a:solidFill>
                <a:latin typeface="Calibri"/>
              </a:rPr>
              <a:t>Minute 1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Problem +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pattern(s) used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152704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12082" y="225399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9554" y="1463040"/>
            <a:ext cx="3472586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12383" y="1636776"/>
            <a:ext cx="566928" cy="566928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ear 6 17"/>
          <p:cNvSpPr/>
          <p:nvPr/>
        </p:nvSpPr>
        <p:spPr>
          <a:xfrm>
            <a:off x="5954115" y="1778508"/>
            <a:ext cx="283464" cy="283464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4418" y="2304288"/>
            <a:ext cx="3362858" cy="88696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057B8"/>
                </a:solidFill>
                <a:latin typeface="Calibri"/>
              </a:rPr>
              <a:t>Minute 2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LIVE DEMO —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automation running</a:t>
            </a:r>
          </a:p>
        </p:txBody>
      </p:sp>
      <p:sp>
        <p:nvSpPr>
          <p:cNvPr id="20" name="Oval 19"/>
          <p:cNvSpPr/>
          <p:nvPr/>
        </p:nvSpPr>
        <p:spPr>
          <a:xfrm>
            <a:off x="4423562" y="152704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68716" y="225399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16188" y="1463040"/>
            <a:ext cx="3472586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69017" y="1636776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ightning Bolt 23"/>
          <p:cNvSpPr/>
          <p:nvPr/>
        </p:nvSpPr>
        <p:spPr>
          <a:xfrm>
            <a:off x="9810749" y="1778508"/>
            <a:ext cx="283464" cy="283464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1052" y="2304288"/>
            <a:ext cx="3362858" cy="88696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Minute 3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Impact: time savings,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semester projection</a:t>
            </a:r>
          </a:p>
        </p:txBody>
      </p:sp>
      <p:sp>
        <p:nvSpPr>
          <p:cNvPr id="26" name="Oval 25"/>
          <p:cNvSpPr/>
          <p:nvPr/>
        </p:nvSpPr>
        <p:spPr>
          <a:xfrm>
            <a:off x="8280196" y="152704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566928" y="368960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3675888"/>
            <a:ext cx="1058875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Awards: Best Code • Best Analysis • Most Creative • Best Presentation</a:t>
            </a:r>
          </a:p>
        </p:txBody>
      </p:sp>
      <p:sp>
        <p:nvSpPr>
          <p:cNvPr id="29" name="Oval 28"/>
          <p:cNvSpPr/>
          <p:nvPr/>
        </p:nvSpPr>
        <p:spPr>
          <a:xfrm>
            <a:off x="566928" y="4110228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4096512"/>
            <a:ext cx="1058875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End with: would you deploy this in your own lab? What would it take?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589520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Day 4 Complete — Training Days Done!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8580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What You Achieved Today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013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8013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Presented two complete capstone systems, live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585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2585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Mapped the 5 industry patterns to real scenarios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7157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7157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Built a fully automated final project: A, B, or C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729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1729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Quantified your own time savings and ROI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6301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Zero automation 4 days ago → working test system today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234440"/>
            <a:ext cx="3703320" cy="2670048"/>
          </a:xfrm>
          <a:prstGeom prst="rect">
            <a:avLst/>
          </a:prstGeom>
          <a:solidFill>
            <a:srgbClr val="16325C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371600"/>
            <a:ext cx="33832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6B35"/>
                </a:solidFill>
                <a:latin typeface="Calibri"/>
              </a:rPr>
              <a:t>Tomorrow — Day 5 Preview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74519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Moku Custom Instrument (MCC)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95143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Verilog INSIDE the instrument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715767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AI-assisted curriculum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136391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AI-assisted experiment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557015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Certificates &amp; wrap-up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590288"/>
            <a:ext cx="10927080" cy="179222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681728"/>
            <a:ext cx="36576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Tonight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102352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1.  </a:t>
            </a:r>
            <a:r>
              <a:rPr sz="1250" b="0">
                <a:solidFill>
                  <a:srgbClr val="FFFFFF"/>
                </a:solidFill>
                <a:latin typeface="Calibri"/>
              </a:rPr>
              <a:t>Create FREE accounts: claude.ai and chat.openai.com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413248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2.  </a:t>
            </a:r>
            <a:r>
              <a:rPr sz="1250" b="0">
                <a:solidFill>
                  <a:srgbClr val="FFFFFF"/>
                </a:solidFill>
                <a:latin typeface="Calibri"/>
              </a:rPr>
              <a:t>Pick ONE subject you teach — bring its syllabus units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72414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3.  </a:t>
            </a:r>
            <a:r>
              <a:rPr sz="1250" b="0">
                <a:solidFill>
                  <a:srgbClr val="FFFFFF"/>
                </a:solidFill>
                <a:latin typeface="Calibri"/>
              </a:rPr>
              <a:t>Optional: skim scripts/day5/mcc_experiment_guide.md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Spruha Build-in Solutions  |  Powered by Moku:Go — Liquid Instruments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