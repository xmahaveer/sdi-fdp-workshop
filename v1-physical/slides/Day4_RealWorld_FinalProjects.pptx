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DAY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Real-World Applications
&amp; Final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"Professional Test Automation in Practice"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6B35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8" name="Oval 7"/>
          <p:cNvSpPr/>
          <p:nvPr/>
        </p:nvSpPr>
        <p:spPr>
          <a:xfrm>
            <a:off x="85953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/>
          <p:cNvSpPr/>
          <p:nvPr/>
        </p:nvSpPr>
        <p:spPr>
          <a:xfrm>
            <a:off x="1017545" y="5178065"/>
            <a:ext cx="342351" cy="342351"/>
          </a:xfrm>
          <a:prstGeom prst="wav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1965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ear 6 10"/>
          <p:cNvSpPr/>
          <p:nvPr/>
        </p:nvSpPr>
        <p:spPr>
          <a:xfrm>
            <a:off x="1977665" y="5178065"/>
            <a:ext cx="342351" cy="342351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7977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ghtning Bolt 12"/>
          <p:cNvSpPr/>
          <p:nvPr/>
        </p:nvSpPr>
        <p:spPr>
          <a:xfrm>
            <a:off x="2937785" y="5178065"/>
            <a:ext cx="342351" cy="342351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3989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n 14"/>
          <p:cNvSpPr/>
          <p:nvPr/>
        </p:nvSpPr>
        <p:spPr>
          <a:xfrm>
            <a:off x="3897905" y="5178065"/>
            <a:ext cx="342351" cy="342351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Mahaveer. Rajendra. Savanur  |  Head of Engineering &amp; AI Systems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Day 4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Oval 5"/>
          <p:cNvSpPr/>
          <p:nvPr/>
        </p:nvSpPr>
        <p:spPr>
          <a:xfrm>
            <a:off x="585216" y="1271016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234440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8:00 – 8:20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23444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The Automation Journey — Review</a:t>
            </a:r>
          </a:p>
        </p:txBody>
      </p:sp>
      <p:sp>
        <p:nvSpPr>
          <p:cNvPr id="9" name="Oval 8"/>
          <p:cNvSpPr/>
          <p:nvPr/>
        </p:nvSpPr>
        <p:spPr>
          <a:xfrm>
            <a:off x="585216" y="1947672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911096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8:20 – 9:15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911096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Day 2 Capstone Presentations</a:t>
            </a:r>
            <a:r>
              <a:rPr sz="1200" b="0">
                <a:solidFill>
                  <a:srgbClr val="5A6B7B"/>
                </a:solidFill>
                <a:latin typeface="Calibri"/>
              </a:rPr>
              <a:t>   5–6 min per team</a:t>
            </a:r>
          </a:p>
        </p:txBody>
      </p:sp>
      <p:sp>
        <p:nvSpPr>
          <p:cNvPr id="12" name="Oval 11"/>
          <p:cNvSpPr/>
          <p:nvPr/>
        </p:nvSpPr>
        <p:spPr>
          <a:xfrm>
            <a:off x="585216" y="2624328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2587752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9:30 – 11:00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58775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Industry Case Studies + 5 Automation Patterns</a:t>
            </a:r>
          </a:p>
        </p:txBody>
      </p:sp>
      <p:sp>
        <p:nvSpPr>
          <p:cNvPr id="15" name="Oval 14"/>
          <p:cNvSpPr/>
          <p:nvPr/>
        </p:nvSpPr>
        <p:spPr>
          <a:xfrm>
            <a:off x="585216" y="3300984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264408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11:15 – 12:30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264408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Final Capstone: Specs &amp; Team Planning</a:t>
            </a:r>
            <a:r>
              <a:rPr sz="1200" b="0">
                <a:solidFill>
                  <a:srgbClr val="5A6B7B"/>
                </a:solidFill>
                <a:latin typeface="Calibri"/>
              </a:rPr>
              <a:t>   choose Option A, B, or C</a:t>
            </a:r>
          </a:p>
        </p:txBody>
      </p:sp>
      <p:sp>
        <p:nvSpPr>
          <p:cNvPr id="18" name="Oval 17"/>
          <p:cNvSpPr/>
          <p:nvPr/>
        </p:nvSpPr>
        <p:spPr>
          <a:xfrm>
            <a:off x="585216" y="3977640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941064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1:30 – 3:30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941064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Final Capstone Implementation</a:t>
            </a:r>
          </a:p>
        </p:txBody>
      </p:sp>
      <p:sp>
        <p:nvSpPr>
          <p:cNvPr id="21" name="Oval 20"/>
          <p:cNvSpPr/>
          <p:nvPr/>
        </p:nvSpPr>
        <p:spPr>
          <a:xfrm>
            <a:off x="585216" y="4654296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4617720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3:45 – 5:00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61772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Final Presentations &amp; Day 4 Close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The Automation Journey — 4 Days of Growth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Day 1
Foundations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Osc + WG, loops,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CSV, matplotlib</a:t>
            </a:r>
          </a:p>
        </p:txBody>
      </p:sp>
      <p:sp>
        <p:nvSpPr>
          <p:cNvPr id="7" name="Oval 6"/>
          <p:cNvSpPr/>
          <p:nvPr/>
        </p:nvSpPr>
        <p:spPr>
          <a:xfrm>
            <a:off x="1563966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27349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2253" y="164592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Day 2
Integration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AWG, Logic Analyzer,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MiM fundamentals</a:t>
            </a:r>
          </a:p>
        </p:txBody>
      </p:sp>
      <p:sp>
        <p:nvSpPr>
          <p:cNvPr id="10" name="Oval 9"/>
          <p:cNvSpPr/>
          <p:nvPr/>
        </p:nvSpPr>
        <p:spPr>
          <a:xfrm>
            <a:off x="4463299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26683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1587" y="164592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Day 3
Advanced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Streaming, FFT,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SNR/THD, capstone</a:t>
            </a:r>
          </a:p>
        </p:txBody>
      </p:sp>
      <p:sp>
        <p:nvSpPr>
          <p:cNvPr id="13" name="Oval 12"/>
          <p:cNvSpPr/>
          <p:nvPr/>
        </p:nvSpPr>
        <p:spPr>
          <a:xfrm>
            <a:off x="7362633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26017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00921" y="164592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Day 4
Application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Industry patterns,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final project</a:t>
            </a:r>
          </a:p>
        </p:txBody>
      </p:sp>
      <p:sp>
        <p:nvSpPr>
          <p:cNvPr id="16" name="Oval 15"/>
          <p:cNvSpPr/>
          <p:nvPr/>
        </p:nvSpPr>
        <p:spPr>
          <a:xfrm>
            <a:off x="10261967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49039"/>
            <a:ext cx="2590723" cy="1554480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587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15+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instrument configurations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7963" y="3749039"/>
            <a:ext cx="2590723" cy="1554480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587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8+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guided exercises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3749039"/>
            <a:ext cx="2590723" cy="1554480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587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capstone projects so far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051" y="3749039"/>
            <a:ext cx="2590723" cy="1554480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587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500+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lines of Python written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Day 2 Capstone Presentations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5–6 minutes per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0:30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Problem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statement</a:t>
            </a:r>
          </a:p>
        </p:txBody>
      </p:sp>
      <p:sp>
        <p:nvSpPr>
          <p:cNvPr id="8" name="Oval 7"/>
          <p:cNvSpPr/>
          <p:nvPr/>
        </p:nvSpPr>
        <p:spPr>
          <a:xfrm>
            <a:off x="1274033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47483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2387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1:30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Solution approach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MiM routing, code</a:t>
            </a:r>
          </a:p>
        </p:txBody>
      </p:sp>
      <p:sp>
        <p:nvSpPr>
          <p:cNvPr id="11" name="Oval 10"/>
          <p:cNvSpPr/>
          <p:nvPr/>
        </p:nvSpPr>
        <p:spPr>
          <a:xfrm>
            <a:off x="3593500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66950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1854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2:30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LIVE DEMO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real data appearing</a:t>
            </a:r>
          </a:p>
        </p:txBody>
      </p:sp>
      <p:sp>
        <p:nvSpPr>
          <p:cNvPr id="14" name="Oval 13"/>
          <p:cNvSpPr/>
          <p:nvPr/>
        </p:nvSpPr>
        <p:spPr>
          <a:xfrm>
            <a:off x="5912967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86417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61321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1:00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Results &amp;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time savings</a:t>
            </a:r>
          </a:p>
        </p:txBody>
      </p:sp>
      <p:sp>
        <p:nvSpPr>
          <p:cNvPr id="17" name="Oval 16"/>
          <p:cNvSpPr/>
          <p:nvPr/>
        </p:nvSpPr>
        <p:spPr>
          <a:xfrm>
            <a:off x="8232434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05884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80788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0:30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Q&amp;A</a:t>
            </a:r>
          </a:p>
        </p:txBody>
      </p:sp>
      <p:sp>
        <p:nvSpPr>
          <p:cNvPr id="20" name="Oval 19"/>
          <p:cNvSpPr/>
          <p:nvPr/>
        </p:nvSpPr>
        <p:spPr>
          <a:xfrm>
            <a:off x="10551901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2102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520440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Evaluation: Functionality 35% • Code 20% • Analysis 15% • Time savings 15% • Presentation 15%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3941064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Listeners: note one technique from another team you want to steal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Industry Case Studies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57621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Production Line Testing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865376"/>
            <a:ext cx="3429914" cy="36393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200 boards/day, manual = 26.7 worker-hours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Automated: 90 s per board, pass/fail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83% time cut, $100k+ saved/year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"Automation made production possible"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371600"/>
            <a:ext cx="357621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07738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Research Lab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7738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0890" y="1865376"/>
            <a:ext cx="3429914" cy="36393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PhD needs 48-hour continuous 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Impossible manually — trivial streaming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Complete dataset, zero gaps, email alerts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"Enables impossible experiments"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2556" y="1371600"/>
            <a:ext cx="357621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2556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Teaching Lab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2556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5708" y="1865376"/>
            <a:ext cx="3429914" cy="36393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60 students, RC filter Bode plot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Manual: 2.5 h of knob-turning per student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Automated: 10 min, rest spent analyzing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"Students do engineering, not operation"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The 5 Industry Automation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These cover ~90% of test automation you will meet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576218" cy="2080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1. Parameter Sweep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3429914" cy="15133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Vary one input, measure response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Bode plots, V-I curves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371600"/>
            <a:ext cx="3576218" cy="2080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2. Pass / Fail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7738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0890" y="1865376"/>
            <a:ext cx="3429914" cy="15133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Compare against spec limits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QC, go/no-go, certificates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371600"/>
            <a:ext cx="3576218" cy="2080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3. Continuous Monitoring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5708" y="1865376"/>
            <a:ext cx="3429914" cy="15133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Stream + alert on thresholds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Environmental, burn-in, drift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80460"/>
            <a:ext cx="3576218" cy="2080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68046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4. Calibration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9135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4174236"/>
            <a:ext cx="3429914" cy="15133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Known input -&gt; correction factor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Sensor cal, zeroing, alignment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07738" y="3680460"/>
            <a:ext cx="3576218" cy="2080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07738" y="368046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5. Batch Testing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7738" y="399135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0890" y="4174236"/>
            <a:ext cx="3429914" cy="15133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Same sequence, N devices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Production runs, lab groups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2556" y="3680460"/>
            <a:ext cx="3576218" cy="2080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2556" y="368046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Reality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2556" y="399135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5708" y="4174236"/>
            <a:ext cx="3429914" cy="15133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Real systems combine patterns: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your capstone uses at least two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Pattern Matching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30 minutes  •  teams  •  workbook section 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576218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Scenario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3429914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Sort 200 resistors into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1% / 5% / 10% bins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371600"/>
            <a:ext cx="3576218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Scenario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7738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0890" y="1865376"/>
            <a:ext cx="3429914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Track power supply drift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over 48 hours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371600"/>
            <a:ext cx="3576218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Scenario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5708" y="1865376"/>
            <a:ext cx="3429914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Amplifier gain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10 Hz – 100 kHz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406140"/>
            <a:ext cx="3576218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40614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Scenario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1703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899916"/>
            <a:ext cx="3429914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Correct temp sensor offset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via ice-bath reference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07738" y="3406140"/>
            <a:ext cx="3576218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07738" y="340614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Scenario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7738" y="371703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0890" y="3899916"/>
            <a:ext cx="3429914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Verify 50 PCBs meet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voltage-regulation spec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2556" y="3406140"/>
            <a:ext cx="3576218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2556" y="340614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Then discuss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2556" y="371703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5708" y="3899916"/>
            <a:ext cx="3429914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Which pattern(s) fit YOUR lab’s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most common measurement?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57B8"/>
                </a:solidFill>
                <a:latin typeface="Calibri"/>
              </a:rPr>
              <a:t>Most scenarios need MORE than one pattern — say which and why.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Final Capstone — Choose Your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All three ship as complete scripts in scripts/day4/ — extend, don't start from zero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3576218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3576218" cy="713232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Option A — Component
Characterization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66544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249424"/>
            <a:ext cx="3429914" cy="3163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MiM: WG + Oscilloscope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Sweep 10 Hz–100 kHz, 30 points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Gain, −3 dB cutoff, roll-off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Bode plot + datasheet report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Manual ~40 min -&gt; goal &lt; 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463040"/>
            <a:ext cx="3576218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463040"/>
            <a:ext cx="3576218" cy="713232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Option B — Signal
Quality Monitor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7738" y="2066544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0890" y="2249424"/>
            <a:ext cx="3429914" cy="3163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Datalogger streaming, 10+ min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Mean / std / Vpp / outliers live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Alert thresholds + alert log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CSV + monitoring report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Manual: impossible -&gt; unattended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463040"/>
            <a:ext cx="3576218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463040"/>
            <a:ext cx="3576218" cy="713232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Option C — Production
Tester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2066544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5708" y="2249424"/>
            <a:ext cx="3429914" cy="3163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Oscilloscope + FFT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Freq 1 MHz ±1%, ≥0.8 Vpp, ≤5% THD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PASS/FAIL per unit + certificate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Batch summary CSV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Manual 8 min/unit -&gt; goal &lt; 90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669280"/>
            <a:ext cx="11155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6B35"/>
                </a:solidFill>
                <a:latin typeface="Calibri"/>
              </a:rPr>
              <a:t>Difficulty guide: </a:t>
            </a:r>
            <a:r>
              <a:rPr sz="1400" b="0">
                <a:solidFill>
                  <a:srgbClr val="1A202C"/>
                </a:solidFill>
                <a:latin typeface="Calibri"/>
              </a:rPr>
              <a:t>A — solid start  •  B — intermediate  •  C — advanced.  Rubric: Automation 50 • Technical 30 • Documentation 20 (+10 bonus)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Final Capstone — Development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120 minutes — checkpoint with the trainer at 2:30 PM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907987" cy="164592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Phase 1 · 20 min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Connect &amp; configure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verify hardware
responds</a:t>
            </a:r>
          </a:p>
        </p:txBody>
      </p:sp>
      <p:sp>
        <p:nvSpPr>
          <p:cNvPr id="8" name="Oval 7"/>
          <p:cNvSpPr/>
          <p:nvPr/>
        </p:nvSpPr>
        <p:spPr>
          <a:xfrm>
            <a:off x="1274033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47483" y="235915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2387" y="1645920"/>
            <a:ext cx="1907987" cy="164592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Phase 2 · 40 min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Core automation loop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data flowing end-to-end</a:t>
            </a:r>
          </a:p>
        </p:txBody>
      </p:sp>
      <p:sp>
        <p:nvSpPr>
          <p:cNvPr id="11" name="Oval 10"/>
          <p:cNvSpPr/>
          <p:nvPr/>
        </p:nvSpPr>
        <p:spPr>
          <a:xfrm>
            <a:off x="3593500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66950" y="235915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1854" y="1645920"/>
            <a:ext cx="1907987" cy="164592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Phase 3 · 30 min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Analysis &amp; metrics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derived quantities</a:t>
            </a:r>
          </a:p>
        </p:txBody>
      </p:sp>
      <p:sp>
        <p:nvSpPr>
          <p:cNvPr id="14" name="Oval 13"/>
          <p:cNvSpPr/>
          <p:nvPr/>
        </p:nvSpPr>
        <p:spPr>
          <a:xfrm>
            <a:off x="5912967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86417" y="235915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61321" y="1645920"/>
            <a:ext cx="1907987" cy="164592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Phase 4 · 20 min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Reports: CSV, plot,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text summary</a:t>
            </a:r>
          </a:p>
        </p:txBody>
      </p:sp>
      <p:sp>
        <p:nvSpPr>
          <p:cNvPr id="17" name="Oval 16"/>
          <p:cNvSpPr/>
          <p:nvPr/>
        </p:nvSpPr>
        <p:spPr>
          <a:xfrm>
            <a:off x="8232434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05884" y="235915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80788" y="1645920"/>
            <a:ext cx="1907987" cy="164592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Phase 5 · 10 min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End-to-end test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error handling</a:t>
            </a:r>
          </a:p>
        </p:txBody>
      </p:sp>
      <p:sp>
        <p:nvSpPr>
          <p:cNvPr id="20" name="Oval 19"/>
          <p:cNvSpPr/>
          <p:nvPr/>
        </p:nvSpPr>
        <p:spPr>
          <a:xfrm>
            <a:off x="10551901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2625013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1920"/>
            <a:ext cx="2625013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Can't connect?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242816"/>
            <a:ext cx="2625013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4425696"/>
            <a:ext cx="2478709" cy="11704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force_connect=True; check config.py IP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6533" y="3931920"/>
            <a:ext cx="2625013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56533" y="3931920"/>
            <a:ext cx="2625013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Data looks wrong?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6533" y="4242816"/>
            <a:ext cx="2625013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29685" y="4425696"/>
            <a:ext cx="2478709" cy="11704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Add time.sleep(0.1) after settings change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147" y="3931920"/>
            <a:ext cx="2625013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10147" y="3931920"/>
            <a:ext cx="2625013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Code crashes?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0147" y="4242816"/>
            <a:ext cx="2625013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3299" y="4425696"/>
            <a:ext cx="2478709" cy="11704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try/except with cleanup in finally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63761" y="3931920"/>
            <a:ext cx="2625013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063761" y="3931920"/>
            <a:ext cx="2625013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Behind at 2:30?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63761" y="4242816"/>
            <a:ext cx="2625013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36913" y="4425696"/>
            <a:ext cx="2478709" cy="11704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Cut bonus features, nail the core loop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Final Presentations — 3 Minutes Per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Strictly timed — practice once before you present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3454298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Minute 1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Problem + pattern(s)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used</a:t>
            </a:r>
          </a:p>
        </p:txBody>
      </p:sp>
      <p:sp>
        <p:nvSpPr>
          <p:cNvPr id="8" name="Oval 7"/>
          <p:cNvSpPr/>
          <p:nvPr/>
        </p:nvSpPr>
        <p:spPr>
          <a:xfrm>
            <a:off x="2047189" y="155448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93794" y="240487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68698" y="1737360"/>
            <a:ext cx="3454298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Minute 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LIVE DEMO —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automation running</a:t>
            </a:r>
          </a:p>
        </p:txBody>
      </p:sp>
      <p:sp>
        <p:nvSpPr>
          <p:cNvPr id="11" name="Oval 10"/>
          <p:cNvSpPr/>
          <p:nvPr/>
        </p:nvSpPr>
        <p:spPr>
          <a:xfrm>
            <a:off x="5912967" y="155448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59572" y="240487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34476" y="1737360"/>
            <a:ext cx="3454298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Minute 3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Impact: time savings,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projected over a semester</a:t>
            </a:r>
          </a:p>
        </p:txBody>
      </p:sp>
      <p:sp>
        <p:nvSpPr>
          <p:cNvPr id="14" name="Oval 13"/>
          <p:cNvSpPr/>
          <p:nvPr/>
        </p:nvSpPr>
        <p:spPr>
          <a:xfrm>
            <a:off x="9778745" y="155448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03903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703319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Awards: Best Code • Best Analysis • Most Creative • Best Presentation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7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4123943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End with: would you deploy this in your own lab? What would it take?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Day 4 Complete — Training Days Done!</a:t>
            </a:r>
          </a:p>
        </p:txBody>
      </p:sp>
      <p:sp>
        <p:nvSpPr>
          <p:cNvPr id="5" name="Oval 4"/>
          <p:cNvSpPr/>
          <p:nvPr/>
        </p:nvSpPr>
        <p:spPr>
          <a:xfrm>
            <a:off x="850392" y="1618488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91056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Presented two complete capstone systems, live</a:t>
            </a:r>
          </a:p>
        </p:txBody>
      </p:sp>
      <p:sp>
        <p:nvSpPr>
          <p:cNvPr id="7" name="Oval 6"/>
          <p:cNvSpPr/>
          <p:nvPr/>
        </p:nvSpPr>
        <p:spPr>
          <a:xfrm>
            <a:off x="850392" y="2112264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84832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Mapped the 5 industry patterns to real scenarios</a:t>
            </a:r>
          </a:p>
        </p:txBody>
      </p:sp>
      <p:sp>
        <p:nvSpPr>
          <p:cNvPr id="9" name="Oval 8"/>
          <p:cNvSpPr/>
          <p:nvPr/>
        </p:nvSpPr>
        <p:spPr>
          <a:xfrm>
            <a:off x="850392" y="2606040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78608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Built a fully automated final project: A, B, or C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3099816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072384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Quantified your own time savings and ROI</a:t>
            </a:r>
          </a:p>
        </p:txBody>
      </p:sp>
      <p:sp>
        <p:nvSpPr>
          <p:cNvPr id="13" name="Oval 12"/>
          <p:cNvSpPr/>
          <p:nvPr/>
        </p:nvSpPr>
        <p:spPr>
          <a:xfrm>
            <a:off x="850392" y="3593592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566160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Four days ago: zero automation. Today: a working test system.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105156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Tomorrow is different: Moku Custom Instrument (MCC) on the FPGA, then AI-augmented curriculum design — you leave with artifacts for YOUR institution.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